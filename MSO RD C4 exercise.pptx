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5"/>
  </p:sldMasterIdLst>
  <p:notesMasterIdLst>
    <p:notesMasterId r:id="rId16"/>
  </p:notesMasterIdLst>
  <p:sldIdLst>
    <p:sldId id="307" r:id="rId6"/>
    <p:sldId id="412" r:id="rId7"/>
    <p:sldId id="413" r:id="rId8"/>
    <p:sldId id="414" r:id="rId9"/>
    <p:sldId id="421" r:id="rId10"/>
    <p:sldId id="422" r:id="rId11"/>
    <p:sldId id="423" r:id="rId12"/>
    <p:sldId id="1060" r:id="rId13"/>
    <p:sldId id="1061" r:id="rId14"/>
    <p:sldId id="106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72" d="100"/>
          <a:sy n="72" d="100"/>
        </p:scale>
        <p:origin x="855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xane desmicht" userId="ac1d6fb7a88f37a7" providerId="LiveId" clId="{93753085-ACB4-4C39-BA21-C7E5BA9510B2}"/>
    <pc:docChg chg="undo custSel addSld delSld modSld sldOrd">
      <pc:chgData name="roxane desmicht" userId="ac1d6fb7a88f37a7" providerId="LiveId" clId="{93753085-ACB4-4C39-BA21-C7E5BA9510B2}" dt="2026-06-04T01:27:47.706" v="590" actId="47"/>
      <pc:docMkLst>
        <pc:docMk/>
      </pc:docMkLst>
      <pc:sldChg chg="addSp modSp add del mod">
        <pc:chgData name="roxane desmicht" userId="ac1d6fb7a88f37a7" providerId="LiveId" clId="{93753085-ACB4-4C39-BA21-C7E5BA9510B2}" dt="2026-06-04T01:27:47.706" v="590" actId="47"/>
        <pc:sldMkLst>
          <pc:docMk/>
          <pc:sldMk cId="3158584688" sldId="1059"/>
        </pc:sldMkLst>
      </pc:sldChg>
      <pc:sldChg chg="addSp delSp modSp add mod ord">
        <pc:chgData name="roxane desmicht" userId="ac1d6fb7a88f37a7" providerId="LiveId" clId="{93753085-ACB4-4C39-BA21-C7E5BA9510B2}" dt="2026-06-04T01:27:08.362" v="589"/>
        <pc:sldMkLst>
          <pc:docMk/>
          <pc:sldMk cId="3821131111" sldId="10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9DC0C2-9D13-480D-924C-740DD5289A60}" type="datetimeFigureOut">
              <a:rPr lang="fr-FR" smtClean="0"/>
              <a:t>04/06/2026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"/>
              <a:t>Click to change the styles of the mask text</a:t>
            </a:r>
          </a:p>
          <a:p>
            <a:pPr lvl="1"/>
            <a:r>
              <a:rPr lang="en"/>
              <a:t>Second level</a:t>
            </a:r>
          </a:p>
          <a:p>
            <a:pPr lvl="2"/>
            <a:r>
              <a:rPr lang="en"/>
              <a:t>Third level</a:t>
            </a:r>
          </a:p>
          <a:p>
            <a:pPr lvl="3"/>
            <a:r>
              <a:rPr lang="en"/>
              <a:t>Fourth level</a:t>
            </a:r>
          </a:p>
          <a:p>
            <a:pPr lvl="4"/>
            <a:r>
              <a:rPr lang="en"/>
              <a:t>Fifth Level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25324-CD8D-481B-91D4-2C69C83DC5C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3933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re 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1424FB-B2C2-353E-14D4-EFE09240DC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"/>
              <a:t>Change the style of the title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D8914B1-F434-C88C-1B24-EBDAF7B47C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"/>
              <a:t>Change the style of the mask's captions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F60A427-94AB-266C-05D9-894D28BB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B63B9-41B1-4EF2-8906-C69C7E5D6910}" type="datetime1">
              <a:rPr lang="fr-FR" smtClean="0"/>
              <a:t>04/06/2026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53ADA64-25D8-62F7-D91E-41769E81E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/>
              <a:t>R Desmicht – SUTD ESD MSO</a:t>
            </a:r>
          </a:p>
          <a:p>
            <a:r>
              <a:rPr lang="en">
                <a:latin typeface="SFSS1095"/>
              </a:rPr>
              <a:t>©</a:t>
            </a:r>
            <a:r>
              <a:rPr lang="en">
                <a:latin typeface="CMSS8"/>
              </a:rPr>
              <a:t>For limited distribution to SUTD-MSO students. All other rights reserved.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B2C5995-F5AE-4DD5-2DC7-CB37CF74D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7BA5-F408-414D-A13C-638556FCCB01}" type="slidenum">
              <a:rPr lang="fr-FR" smtClean="0"/>
              <a:t>‹#›</a:t>
            </a:fld>
            <a:endParaRPr lang="fr-FR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157E5659-F736-B588-3DA3-D2AED684C8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2560" y="45415"/>
            <a:ext cx="2532649" cy="98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027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3505C6-B8BF-210B-FA0F-42B0A9C36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/>
              <a:t>Change the style of the title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F25542-BF78-CB7E-EAE0-2D3C762C7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"/>
              <a:t>Click to change the styles of the mask text</a:t>
            </a:r>
          </a:p>
          <a:p>
            <a:pPr lvl="1"/>
            <a:r>
              <a:rPr lang="en"/>
              <a:t>Second level</a:t>
            </a:r>
          </a:p>
          <a:p>
            <a:pPr lvl="2"/>
            <a:r>
              <a:rPr lang="en"/>
              <a:t>Third level</a:t>
            </a:r>
          </a:p>
          <a:p>
            <a:pPr lvl="3"/>
            <a:r>
              <a:rPr lang="en"/>
              <a:t>Fourth level</a:t>
            </a:r>
          </a:p>
          <a:p>
            <a:pPr lvl="4"/>
            <a:r>
              <a:rPr lang="en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37DE763-A209-D439-516B-9CFE37133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C1263-5133-4A3F-AF29-67276BC9E376}" type="datetime1">
              <a:rPr lang="fr-FR" smtClean="0"/>
              <a:t>04/06/2026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4613AC-78B1-CD1C-01D6-251B95479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AE40CD6-2FC8-B560-F471-95777FF98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7BA5-F408-414D-A13C-638556FCCB01}" type="slidenum">
              <a:rPr lang="fr-FR" smtClean="0"/>
              <a:t>‹#›</a:t>
            </a:fld>
            <a:endParaRPr lang="fr-FR"/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4B9CB68F-7D20-8FD2-66F6-30B684703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5938" y="60403"/>
            <a:ext cx="476924" cy="47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49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u b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3505C6-B8BF-210B-FA0F-42B0A9C36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51" y="-196128"/>
            <a:ext cx="10515600" cy="1325563"/>
          </a:xfrm>
        </p:spPr>
        <p:txBody>
          <a:bodyPr/>
          <a:lstStyle/>
          <a:p>
            <a:r>
              <a:rPr lang="en"/>
              <a:t>Change the style of the title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F25542-BF78-CB7E-EAE0-2D3C762C7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6851" y="1253331"/>
            <a:ext cx="10790446" cy="4933058"/>
          </a:xfrm>
        </p:spPr>
        <p:txBody>
          <a:bodyPr/>
          <a:lstStyle/>
          <a:p>
            <a:pPr lvl="0"/>
            <a:r>
              <a:rPr lang="en"/>
              <a:t>Click to change the styles of the mask text</a:t>
            </a:r>
          </a:p>
          <a:p>
            <a:pPr lvl="1"/>
            <a:r>
              <a:rPr lang="en"/>
              <a:t>Second level</a:t>
            </a:r>
          </a:p>
          <a:p>
            <a:pPr lvl="2"/>
            <a:r>
              <a:rPr lang="en"/>
              <a:t>Third level</a:t>
            </a:r>
          </a:p>
          <a:p>
            <a:pPr lvl="3"/>
            <a:r>
              <a:rPr lang="en"/>
              <a:t>Fourth level</a:t>
            </a:r>
          </a:p>
          <a:p>
            <a:pPr lvl="4"/>
            <a:r>
              <a:rPr lang="en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37DE763-A209-D439-516B-9CFE37133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C1263-5133-4A3F-AF29-67276BC9E376}" type="datetime1">
              <a:rPr lang="fr-FR" smtClean="0"/>
              <a:t>04/06/2026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4613AC-78B1-CD1C-01D6-251B95479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AE40CD6-2FC8-B560-F471-95777FF98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7BA5-F408-414D-A13C-638556FCCB01}" type="slidenum">
              <a:rPr lang="fr-FR" smtClean="0"/>
              <a:t>‹#›</a:t>
            </a:fld>
            <a:endParaRPr lang="fr-FR"/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4B9CB68F-7D20-8FD2-66F6-30B684703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5938" y="60403"/>
            <a:ext cx="476924" cy="47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729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363C2C-3372-7819-514D-230E3F84A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"/>
              <a:t>Change the style of the title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B3C4435-4A01-04D1-3474-209E32B53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"/>
              <a:t>Click to change the styles of the mask text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DF2EC96-70FF-1274-AD63-B4AB4C97E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EF1F9-5395-45A8-A3A2-5E8E68D343FC}" type="datetime1">
              <a:rPr lang="fr-FR" smtClean="0"/>
              <a:t>04/06/2026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C82CBA-CF65-E5D2-0B88-33A6D8512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27A0144-CBEA-E7A5-1B96-C15D732FD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7BA5-F408-414D-A13C-638556FCCB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9239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760DFC-8E4D-8D7D-FE9E-D016FBCFD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/>
              <a:t>Change the style of the title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42315A-08F1-862D-0CE4-A6B3FA16E4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"/>
              <a:t>Click to change the styles of the mask text</a:t>
            </a:r>
          </a:p>
          <a:p>
            <a:pPr lvl="1"/>
            <a:r>
              <a:rPr lang="en"/>
              <a:t>Second level</a:t>
            </a:r>
          </a:p>
          <a:p>
            <a:pPr lvl="2"/>
            <a:r>
              <a:rPr lang="en"/>
              <a:t>Third level</a:t>
            </a:r>
          </a:p>
          <a:p>
            <a:pPr lvl="3"/>
            <a:r>
              <a:rPr lang="en"/>
              <a:t>Fourth level</a:t>
            </a:r>
          </a:p>
          <a:p>
            <a:pPr lvl="4"/>
            <a:r>
              <a:rPr lang="en"/>
              <a:t>Fifth Level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ADB3299-D812-F071-0FA8-2E695B84F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"/>
              <a:t>Click to change the styles of the mask text</a:t>
            </a:r>
          </a:p>
          <a:p>
            <a:pPr lvl="1"/>
            <a:r>
              <a:rPr lang="en"/>
              <a:t>Second level</a:t>
            </a:r>
          </a:p>
          <a:p>
            <a:pPr lvl="2"/>
            <a:r>
              <a:rPr lang="en"/>
              <a:t>Third level</a:t>
            </a:r>
          </a:p>
          <a:p>
            <a:pPr lvl="3"/>
            <a:r>
              <a:rPr lang="en"/>
              <a:t>Fourth level</a:t>
            </a:r>
          </a:p>
          <a:p>
            <a:pPr lvl="4"/>
            <a:r>
              <a:rPr lang="en"/>
              <a:t>Fifth Level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736EAE0-ECBF-884B-BBAF-E12C00F26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7F815-BF12-4A59-9983-4A508F1EE457}" type="datetime1">
              <a:rPr lang="fr-FR" smtClean="0"/>
              <a:t>04/06/2026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3289DA1-770E-89F5-EA2B-DFEB45FC5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C7D89B5-BD14-83ED-2A17-B708B89E8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7BA5-F408-414D-A13C-638556FCCB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6641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CD1517-5F8C-616B-229A-AA3FB17AB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"/>
              <a:t>Change the style of the title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D8C2F85-7020-1EED-DB3F-BF6B93F0A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"/>
              <a:t>Click to change the styles of the mask text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902A681-0A44-6617-B5C8-B6D28109C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"/>
              <a:t>Click to change the styles of the mask text</a:t>
            </a:r>
          </a:p>
          <a:p>
            <a:pPr lvl="1"/>
            <a:r>
              <a:rPr lang="en"/>
              <a:t>Second level</a:t>
            </a:r>
          </a:p>
          <a:p>
            <a:pPr lvl="2"/>
            <a:r>
              <a:rPr lang="en"/>
              <a:t>Third level</a:t>
            </a:r>
          </a:p>
          <a:p>
            <a:pPr lvl="3"/>
            <a:r>
              <a:rPr lang="en"/>
              <a:t>Fourth level</a:t>
            </a:r>
          </a:p>
          <a:p>
            <a:pPr lvl="4"/>
            <a:r>
              <a:rPr lang="en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F22AF14-7F0D-8F7A-20D0-02AC272E6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"/>
              <a:t>Click to change the styles of the mask text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4D66910-CCD6-0285-F9D0-D54424F234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"/>
              <a:t>Click to change the styles of the mask text</a:t>
            </a:r>
          </a:p>
          <a:p>
            <a:pPr lvl="1"/>
            <a:r>
              <a:rPr lang="en"/>
              <a:t>Second level</a:t>
            </a:r>
          </a:p>
          <a:p>
            <a:pPr lvl="2"/>
            <a:r>
              <a:rPr lang="en"/>
              <a:t>Third level</a:t>
            </a:r>
          </a:p>
          <a:p>
            <a:pPr lvl="3"/>
            <a:r>
              <a:rPr lang="en"/>
              <a:t>Fourth level</a:t>
            </a:r>
          </a:p>
          <a:p>
            <a:pPr lvl="4"/>
            <a:r>
              <a:rPr lang="en"/>
              <a:t>Fifth Level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2E93219-D9AA-580E-F7A8-B29249823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E5BE8-B1A6-4154-B7A9-AC99CD5F69A1}" type="datetime1">
              <a:rPr lang="fr-FR" smtClean="0"/>
              <a:t>04/06/2026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94FD95B-9027-A2E7-2C5E-8E4B9CBC1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F79F18E-B1FB-1138-52D5-C63C2F3A3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7BA5-F408-414D-A13C-638556FCCB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483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E6BE9F-3BA2-3FBB-C89A-95A72E6CA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/>
              <a:t>Change the style of the title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755B9C-68B7-23C3-573D-B71712F8D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C4647-F711-4BE0-B12C-831B528B88AA}" type="datetime1">
              <a:rPr lang="fr-FR" smtClean="0"/>
              <a:t>04/06/2026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32643EA-1A58-2BD4-6EE9-99F1F258B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D3359BF-7835-68E1-3EDE-0EA61A4B2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7BA5-F408-414D-A13C-638556FCCB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7970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0EB7AB5-0030-7B1F-4030-EEF44116C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8F19C-CB2F-4D76-AA0B-06FDD06C7D9E}" type="datetime1">
              <a:rPr lang="fr-FR" smtClean="0"/>
              <a:t>04/06/2026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D5EE8CF-57D9-CF0D-4784-0E8F6D84B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28DA041-3E3C-6D49-CF63-9581CEECE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7BA5-F408-414D-A13C-638556FCCB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5526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8FBDAC-795E-9E5D-B1A3-9AE9702EF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"/>
              <a:t>Change the style of the title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7CDC07-EBA8-6DA8-A0C4-BDD18EB4F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"/>
              <a:t>Click to change the styles of the mask text</a:t>
            </a:r>
          </a:p>
          <a:p>
            <a:pPr lvl="1"/>
            <a:r>
              <a:rPr lang="en"/>
              <a:t>Second level</a:t>
            </a:r>
          </a:p>
          <a:p>
            <a:pPr lvl="2"/>
            <a:r>
              <a:rPr lang="en"/>
              <a:t>Third level</a:t>
            </a:r>
          </a:p>
          <a:p>
            <a:pPr lvl="3"/>
            <a:r>
              <a:rPr lang="en"/>
              <a:t>Fourth level</a:t>
            </a:r>
          </a:p>
          <a:p>
            <a:pPr lvl="4"/>
            <a:r>
              <a:rPr lang="en"/>
              <a:t>Fifth Level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12048EF-7FE3-C7AE-4AE5-E29683D452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"/>
              <a:t>Click to change the styles of the mask text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37893E0-322B-F6B0-0123-6D8DA2ADD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A2F0D-45A5-4A20-B4B2-6E16E0083518}" type="datetime1">
              <a:rPr lang="fr-FR" smtClean="0"/>
              <a:t>04/06/2026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F270E30-B7DE-719D-352E-DB7199409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2160212-88F0-D637-2131-CE00E060C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7BA5-F408-414D-A13C-638556FCCB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538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D9B561-3FEE-2785-73D7-5949A95FA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"/>
              <a:t>Change the style of the title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31CB62C-0CD8-01E5-9975-64DAB252F1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7B9B561-E93A-FC26-1826-B41E6B51CA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"/>
              <a:t>Click to change the styles of the mask text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119A63C-0A01-1554-254C-E24DD190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02F3D-CBDE-43A3-B3E4-BEE175F52B0F}" type="datetime1">
              <a:rPr lang="fr-FR" smtClean="0"/>
              <a:t>04/06/2026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44BCFD9-3963-1EF3-366B-26D1BE0FD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35CFF0E-1A81-9EB4-6751-1A373C803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7BA5-F408-414D-A13C-638556FCCB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097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D0F98B-22B0-BB05-D8B6-E4D1F5E09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/>
              <a:t>Change the style of the title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77F851B-BE91-A431-2DC8-171C97051F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"/>
              <a:t>Click to change the styles of the mask text</a:t>
            </a:r>
          </a:p>
          <a:p>
            <a:pPr lvl="1"/>
            <a:r>
              <a:rPr lang="en"/>
              <a:t>Second level</a:t>
            </a:r>
          </a:p>
          <a:p>
            <a:pPr lvl="2"/>
            <a:r>
              <a:rPr lang="en"/>
              <a:t>Third level</a:t>
            </a:r>
          </a:p>
          <a:p>
            <a:pPr lvl="3"/>
            <a:r>
              <a:rPr lang="en"/>
              <a:t>Fourth level</a:t>
            </a:r>
          </a:p>
          <a:p>
            <a:pPr lvl="4"/>
            <a:r>
              <a:rPr lang="en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10C4FB-CC8D-C727-346B-A7C634DF1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24E5-3382-48E1-80B2-28901262BD85}" type="datetime1">
              <a:rPr lang="fr-FR" smtClean="0"/>
              <a:t>04/06/2026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10DFA09-3D99-C369-E377-A3E03E01C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F1E5B5-F506-CE71-D6B0-A9846E1EF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7BA5-F408-414D-A13C-638556FCCB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34281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E7DB6F0-644B-EC13-DD42-8CCDC52C1F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"/>
              <a:t>Change the style of the title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16C591E-A17B-C4B9-3EC9-710FA461EF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"/>
              <a:t>Click to change the styles of the mask text</a:t>
            </a:r>
          </a:p>
          <a:p>
            <a:pPr lvl="1"/>
            <a:r>
              <a:rPr lang="en"/>
              <a:t>Second level</a:t>
            </a:r>
          </a:p>
          <a:p>
            <a:pPr lvl="2"/>
            <a:r>
              <a:rPr lang="en"/>
              <a:t>Third level</a:t>
            </a:r>
          </a:p>
          <a:p>
            <a:pPr lvl="3"/>
            <a:r>
              <a:rPr lang="en"/>
              <a:t>Fourth level</a:t>
            </a:r>
          </a:p>
          <a:p>
            <a:pPr lvl="4"/>
            <a:r>
              <a:rPr lang="en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82A9A7-F766-53A7-7B8E-D3D799BA3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F1642-828A-4A9B-A0D9-ACC2537DE6CF}" type="datetime1">
              <a:rPr lang="fr-FR" smtClean="0"/>
              <a:t>04/06/2026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98E2B65-42D7-8672-D9CB-D23D26E95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6C168C-7FD2-DF23-947B-FB6FC1217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7BA5-F408-414D-A13C-638556FCCB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5489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1E1A466-517E-88E2-69B0-B64358A7D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"/>
              <a:t>Change the style of the title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29793F8-5A78-E1E3-FB4E-48132E360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"/>
              <a:t>Click to change the styles of the mask text</a:t>
            </a:r>
          </a:p>
          <a:p>
            <a:pPr lvl="1"/>
            <a:r>
              <a:rPr lang="en"/>
              <a:t>Second level</a:t>
            </a:r>
          </a:p>
          <a:p>
            <a:pPr lvl="2"/>
            <a:r>
              <a:rPr lang="en"/>
              <a:t>Third level</a:t>
            </a:r>
          </a:p>
          <a:p>
            <a:pPr lvl="3"/>
            <a:r>
              <a:rPr lang="en"/>
              <a:t>Fourth level</a:t>
            </a:r>
          </a:p>
          <a:p>
            <a:pPr lvl="4"/>
            <a:r>
              <a:rPr lang="en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E7B0DAA-515C-8372-F3DE-9B64B7777A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1278" y="6356349"/>
            <a:ext cx="10791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5F8E44-A292-441B-84B3-789F3F706E47}" type="datetime1">
              <a:rPr lang="fr-FR" smtClean="0"/>
              <a:t>04/06/2026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42090D-3DD0-9C8B-C350-D97F0CCF6F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8800" y="6353525"/>
            <a:ext cx="8727790" cy="36512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"/>
              <a:t>R Desmicht – SUTD ESD MSO</a:t>
            </a:r>
          </a:p>
          <a:p>
            <a:r>
              <a:rPr lang="en">
                <a:latin typeface="SFSS1095"/>
              </a:rPr>
              <a:t>©</a:t>
            </a:r>
            <a:r>
              <a:rPr lang="en">
                <a:latin typeface="CMSS8"/>
              </a:rPr>
              <a:t>For limited distribution to SUTD-MSO students. All other rights reserved.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9F9E31-B162-1888-EE2E-29E9FD2E12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5145" y="6356350"/>
            <a:ext cx="5386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997BA5-F408-414D-A13C-638556FCCB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9242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23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105BF1-E1CA-717D-EF50-755C5D954F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" sz="4400" err="1"/>
              <a:t>Manufacturing and Service Operations</a:t>
            </a:r>
            <a:br>
              <a:rPr lang="fr-FR" sz="4400"/>
            </a:br>
            <a:r>
              <a:rPr lang="en" sz="4400"/>
              <a:t>MSO 40.012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ED98EFD-DCB5-6810-96B9-32FCC98D81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"/>
              <a:t>R Desmicht – Adjunct Professor SUTD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21CDB2C-1D41-C9EF-AFFC-DDA252718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B63B9-41B1-4EF2-8906-C69C7E5D6910}" type="datetime1">
              <a:rPr lang="fr-FR" smtClean="0"/>
              <a:t>04/06/2026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415F59-FD4E-966B-BB6E-4FB7DBFB3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/>
              <a:t>R Desmicht – SUTD ESD MSO</a:t>
            </a:r>
          </a:p>
          <a:p>
            <a:r>
              <a:rPr lang="en">
                <a:latin typeface="SFSS1095"/>
              </a:rPr>
              <a:t>©</a:t>
            </a:r>
            <a:r>
              <a:rPr lang="en">
                <a:latin typeface="CMSS8"/>
              </a:rPr>
              <a:t>For limited distribution to SUTD-MSO students. All other rights reserved.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DA033F-9925-F9F7-7DEE-03B1BF68A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7BA5-F408-414D-A13C-638556FCCB0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1026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2887" y="-210301"/>
            <a:ext cx="10515600" cy="1325563"/>
          </a:xfrm>
        </p:spPr>
        <p:txBody>
          <a:bodyPr/>
          <a:lstStyle/>
          <a:p>
            <a:pPr algn="l" rtl="0"/>
            <a:r>
              <a:rPr lang="en" dirty="0"/>
              <a:t>Simple sequencing rules</a:t>
            </a:r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6ABA5BDB-BE8D-5AF4-D0B2-A0EA7921D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0" y="6353525"/>
            <a:ext cx="8727790" cy="365125"/>
          </a:xfrm>
        </p:spPr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712FD3-E862-F354-D928-CD5B3A55B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82" y="883501"/>
            <a:ext cx="7101717" cy="19799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6A20E8-1F54-E33F-E571-D6BE2EC7C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531" y="3429000"/>
            <a:ext cx="7424556" cy="2647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701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E2E24-3A6B-9CED-4FA7-BC8BCD876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5A30CA-79B9-01DF-E403-36B3A09BC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887" y="-210301"/>
            <a:ext cx="10515600" cy="1325563"/>
          </a:xfrm>
        </p:spPr>
        <p:txBody>
          <a:bodyPr/>
          <a:lstStyle/>
          <a:p>
            <a:pPr algn="l" rtl="0"/>
            <a:r>
              <a:rPr lang="en" dirty="0"/>
              <a:t>Moore algorithm</a:t>
            </a:r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8BDA4A11-CB46-D6D4-4E6F-FB963DCBE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0" y="6353525"/>
            <a:ext cx="8727790" cy="365125"/>
          </a:xfrm>
        </p:spPr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B3E428-AC5D-44E1-B06B-D149CDE12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28" y="841514"/>
            <a:ext cx="7268196" cy="53605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EC325C-B4B4-7CD6-0122-FBA304E97177}"/>
              </a:ext>
            </a:extLst>
          </p:cNvPr>
          <p:cNvSpPr txBox="1"/>
          <p:nvPr/>
        </p:nvSpPr>
        <p:spPr>
          <a:xfrm>
            <a:off x="8819322" y="1027043"/>
            <a:ext cx="2079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Compare with EDD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8801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FC0BF-B1E3-81E0-30B7-DCD2A24EA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B41CF1-2305-3D2A-D243-5E75FCA1E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887" y="-210301"/>
            <a:ext cx="10515600" cy="1325563"/>
          </a:xfrm>
        </p:spPr>
        <p:txBody>
          <a:bodyPr/>
          <a:lstStyle/>
          <a:p>
            <a:pPr algn="l" rtl="0"/>
            <a:r>
              <a:rPr lang="en" dirty="0"/>
              <a:t>Lawler Algorithm</a:t>
            </a:r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B0963A79-1E8C-A12E-1F72-280E9C127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0" y="6353525"/>
            <a:ext cx="8727790" cy="365125"/>
          </a:xfrm>
        </p:spPr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8B066D-3704-2CB3-0762-49F1E6719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07" y="767799"/>
            <a:ext cx="6407473" cy="36584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DB6B38-5F28-FFF1-C4D4-E9ADFA880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1954" y="904968"/>
            <a:ext cx="4934639" cy="46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959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B50BA-0BEF-5A84-B7CC-C65D4602D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951D83-FC46-B482-EC2F-67D07E93C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887" y="-210301"/>
            <a:ext cx="10515600" cy="1325563"/>
          </a:xfrm>
        </p:spPr>
        <p:txBody>
          <a:bodyPr/>
          <a:lstStyle/>
          <a:p>
            <a:r>
              <a:rPr lang="fr-FR" dirty="0"/>
              <a:t>Johnson algorithm for n jobs on 2 machines</a:t>
            </a:r>
            <a:endParaRPr lang="en" dirty="0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0722779D-FE89-E176-32E4-793F8B687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0" y="6353525"/>
            <a:ext cx="8727790" cy="365125"/>
          </a:xfrm>
        </p:spPr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4A348A-CB78-C30C-FCE5-9A5263DBE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3117"/>
            <a:ext cx="5446643" cy="13376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CFD6AC-6A1E-AC1C-1C07-03EADA2EE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407" y="1900500"/>
            <a:ext cx="5702080" cy="3450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61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F97B4-01DE-051E-2999-B81D92877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B4B1C4-F5F6-394B-ED7E-75EB9B80D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887" y="-210301"/>
            <a:ext cx="10515600" cy="1325563"/>
          </a:xfrm>
        </p:spPr>
        <p:txBody>
          <a:bodyPr/>
          <a:lstStyle/>
          <a:p>
            <a:r>
              <a:rPr lang="fr-FR" dirty="0"/>
              <a:t>Akers procedure</a:t>
            </a:r>
            <a:endParaRPr lang="en" dirty="0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D879BF18-5F08-3EC2-3E38-DFF836334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0" y="6353525"/>
            <a:ext cx="8727790" cy="365125"/>
          </a:xfrm>
        </p:spPr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559B50-48CC-401C-33C9-6F6E285CDB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298"/>
          <a:stretch>
            <a:fillRect/>
          </a:stretch>
        </p:blipFill>
        <p:spPr>
          <a:xfrm>
            <a:off x="192388" y="748748"/>
            <a:ext cx="6480284" cy="14378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647D74-67DC-16F4-92D4-CD5D276F9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1008" y="2895571"/>
            <a:ext cx="8138702" cy="288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496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E2812-FE43-8E00-1443-8A1B44D8D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74BFAE-EE5B-1304-B335-18918BE25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887" y="-210301"/>
            <a:ext cx="10515600" cy="1325563"/>
          </a:xfrm>
        </p:spPr>
        <p:txBody>
          <a:bodyPr/>
          <a:lstStyle/>
          <a:p>
            <a:r>
              <a:rPr lang="fr-FR" dirty="0"/>
              <a:t>Akers procedure</a:t>
            </a:r>
            <a:endParaRPr lang="en" dirty="0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553357CE-557D-1F34-F360-923628FD8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0" y="6353525"/>
            <a:ext cx="8727790" cy="365125"/>
          </a:xfrm>
        </p:spPr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776D48-C3CA-7748-A43D-EEF6D8245E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298"/>
          <a:stretch>
            <a:fillRect/>
          </a:stretch>
        </p:blipFill>
        <p:spPr>
          <a:xfrm>
            <a:off x="192388" y="748748"/>
            <a:ext cx="6480284" cy="14378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53BC94-4150-0297-53AF-DD609B214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1008" y="2895571"/>
            <a:ext cx="8138702" cy="288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905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C68E1-08BC-BAB3-E817-F031EA41C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210E31-681E-6556-B9B0-17875DAAF57C}"/>
              </a:ext>
            </a:extLst>
          </p:cNvPr>
          <p:cNvSpPr txBox="1">
            <a:spLocks/>
          </p:cNvSpPr>
          <p:nvPr/>
        </p:nvSpPr>
        <p:spPr>
          <a:xfrm>
            <a:off x="103481" y="36229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Project Management</a:t>
            </a:r>
            <a:endParaRPr lang="e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74B17E-ED03-C121-3D4A-A410B4CDCD6B}"/>
              </a:ext>
            </a:extLst>
          </p:cNvPr>
          <p:cNvSpPr txBox="1"/>
          <p:nvPr/>
        </p:nvSpPr>
        <p:spPr>
          <a:xfrm>
            <a:off x="455133" y="6295960"/>
            <a:ext cx="8688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Find the project completion time and critical path using the forward backward method.</a:t>
            </a:r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9706B8D-10F2-F64B-E217-7B638E19F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133" y="853662"/>
            <a:ext cx="10999888" cy="515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131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3B704-A615-6FB2-7F54-5A0FCBF60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76655B-DD97-B3AD-27BA-139B9E2FD381}"/>
              </a:ext>
            </a:extLst>
          </p:cNvPr>
          <p:cNvSpPr txBox="1">
            <a:spLocks/>
          </p:cNvSpPr>
          <p:nvPr/>
        </p:nvSpPr>
        <p:spPr>
          <a:xfrm>
            <a:off x="103481" y="36229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Project Management</a:t>
            </a:r>
            <a:endParaRPr lang="e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9E4C73-0DB5-B936-2FC2-BCDB7FC03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42" y="930897"/>
            <a:ext cx="9946277" cy="5756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984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CB588-1A28-EE3A-35B5-3876FCA66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A5B9E2-F760-2F77-2E94-6E038D6CB697}"/>
              </a:ext>
            </a:extLst>
          </p:cNvPr>
          <p:cNvSpPr txBox="1">
            <a:spLocks/>
          </p:cNvSpPr>
          <p:nvPr/>
        </p:nvSpPr>
        <p:spPr>
          <a:xfrm>
            <a:off x="103481" y="36229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Project Management</a:t>
            </a:r>
            <a:endParaRPr lang="e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7A83CB-F16B-37A2-6AA2-59FE0FFE0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51" y="1673940"/>
            <a:ext cx="10160758" cy="51840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ADDD0C-7096-BD06-E7E0-E04052957C3E}"/>
              </a:ext>
            </a:extLst>
          </p:cNvPr>
          <p:cNvSpPr txBox="1"/>
          <p:nvPr/>
        </p:nvSpPr>
        <p:spPr>
          <a:xfrm>
            <a:off x="0" y="699010"/>
            <a:ext cx="97532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Unfotunately we know that all activities have variability.</a:t>
            </a:r>
          </a:p>
          <a:p>
            <a:r>
              <a:rPr lang="fr-FR" dirty="0"/>
              <a:t>What is the probability for the project to really be completed in 31 days?</a:t>
            </a:r>
          </a:p>
          <a:p>
            <a:r>
              <a:rPr lang="fr-FR" dirty="0"/>
              <a:t>If we want to be sure at 98% to complete the project on time what duration should we commit to?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99230082"/>
      </p:ext>
    </p:extLst>
  </p:cSld>
  <p:clrMapOvr>
    <a:masterClrMapping/>
  </p:clrMapOvr>
</p:sld>
</file>

<file path=ppt/theme/theme1.xml><?xml version="1.0" encoding="utf-8"?>
<a:theme xmlns:a="http://schemas.openxmlformats.org/drawingml/2006/main" name="Roxan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3d4f26da-c66a-415e-afb3-c3e30de15fc9">YXY5U54QP6J5-111-243</_dlc_DocId>
    <_dlc_DocIdUrl xmlns="3d4f26da-c66a-415e-afb3-c3e30de15fc9">
      <Url>https://sutdcentral.sutd.edu.sg/Departments/MAC/_layouts/15/DocIdRedir.aspx?ID=YXY5U54QP6J5-111-243</Url>
      <Description>YXY5U54QP6J5-111-243</Description>
    </_dlc_DocIdUrl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F880307FB5214CAF087AE3F5FCCCAF" ma:contentTypeVersion="2" ma:contentTypeDescription="Create a new document." ma:contentTypeScope="" ma:versionID="c1cc50baf9e20d2f90b46641dd84d222">
  <xsd:schema xmlns:xsd="http://www.w3.org/2001/XMLSchema" xmlns:xs="http://www.w3.org/2001/XMLSchema" xmlns:p="http://schemas.microsoft.com/office/2006/metadata/properties" xmlns:ns2="3d4f26da-c66a-415e-afb3-c3e30de15fc9" targetNamespace="http://schemas.microsoft.com/office/2006/metadata/properties" ma:root="true" ma:fieldsID="cb6eac8164304a1323c237f2b981dc6b" ns2:_="">
    <xsd:import namespace="3d4f26da-c66a-415e-afb3-c3e30de15fc9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4f26da-c66a-415e-afb3-c3e30de15fc9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1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364474A-2082-4FE9-BB5E-4B0BBCF391D5}">
  <ds:schemaRefs>
    <ds:schemaRef ds:uri="3d4f26da-c66a-415e-afb3-c3e30de15fc9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03E143D-0C86-4E73-BBC9-06EA13392710}">
  <ds:schemaRefs>
    <ds:schemaRef ds:uri="3d4f26da-c66a-415e-afb3-c3e30de15fc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E7A51D8-AEA6-47BF-B856-83D7F3C65667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AB538EB2-585F-4829-8B0F-4F8EB9A326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</Words>
  <Application>Microsoft Office PowerPoint</Application>
  <PresentationFormat>Widescreen</PresentationFormat>
  <Paragraphs>26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CMSS8</vt:lpstr>
      <vt:lpstr>SFSS1095</vt:lpstr>
      <vt:lpstr>Roxane</vt:lpstr>
      <vt:lpstr>Manufacturing and Service Operations MSO 40.012</vt:lpstr>
      <vt:lpstr>Simple sequencing rules</vt:lpstr>
      <vt:lpstr>Moore algorithm</vt:lpstr>
      <vt:lpstr>Lawler Algorithm</vt:lpstr>
      <vt:lpstr>Johnson algorithm for n jobs on 2 machines</vt:lpstr>
      <vt:lpstr>Akers procedure</vt:lpstr>
      <vt:lpstr>Akers procedure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roxane desmicht</dc:creator>
  <cp:lastModifiedBy>roxane desmicht</cp:lastModifiedBy>
  <cp:revision>2</cp:revision>
  <dcterms:modified xsi:type="dcterms:W3CDTF">2026-06-04T01:52:50Z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e298231-ee28-4c9e-9ffa-238d0040efda_Enabled">
    <vt:lpwstr>true</vt:lpwstr>
  </property>
  <property fmtid="{D5CDD505-2E9C-101B-9397-08002B2CF9AE}" pid="3" name="MSIP_Label_be298231-ee28-4c9e-9ffa-238d0040efda_SetDate">
    <vt:lpwstr>2024-02-08T02:22:06Z</vt:lpwstr>
  </property>
  <property fmtid="{D5CDD505-2E9C-101B-9397-08002B2CF9AE}" pid="4" name="MSIP_Label_be298231-ee28-4c9e-9ffa-238d0040efda_Method">
    <vt:lpwstr>Privileged</vt:lpwstr>
  </property>
  <property fmtid="{D5CDD505-2E9C-101B-9397-08002B2CF9AE}" pid="5" name="MSIP_Label_be298231-ee28-4c9e-9ffa-238d0040efda_Name">
    <vt:lpwstr>Public</vt:lpwstr>
  </property>
  <property fmtid="{D5CDD505-2E9C-101B-9397-08002B2CF9AE}" pid="6" name="MSIP_Label_be298231-ee28-4c9e-9ffa-238d0040efda_SiteId">
    <vt:lpwstr>3476b776-e990-4f72-b950-62489831623d</vt:lpwstr>
  </property>
  <property fmtid="{D5CDD505-2E9C-101B-9397-08002B2CF9AE}" pid="7" name="MSIP_Label_be298231-ee28-4c9e-9ffa-238d0040efda_ActionId">
    <vt:lpwstr>72b79aa1-8605-4ce7-b4d0-bc412d2c6b08</vt:lpwstr>
  </property>
  <property fmtid="{D5CDD505-2E9C-101B-9397-08002B2CF9AE}" pid="8" name="MSIP_Label_be298231-ee28-4c9e-9ffa-238d0040efda_ContentBits">
    <vt:lpwstr>0</vt:lpwstr>
  </property>
  <property fmtid="{D5CDD505-2E9C-101B-9397-08002B2CF9AE}" pid="9" name="ContentTypeId">
    <vt:lpwstr>0x0101004FF880307FB5214CAF087AE3F5FCCCAF</vt:lpwstr>
  </property>
  <property fmtid="{D5CDD505-2E9C-101B-9397-08002B2CF9AE}" pid="10" name="_dlc_DocIdItemGuid">
    <vt:lpwstr>fb360040-d834-41e6-bb2c-614febe85d6b</vt:lpwstr>
  </property>
</Properties>
</file>