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5"/>
  </p:sldMasterIdLst>
  <p:notesMasterIdLst>
    <p:notesMasterId r:id="rId14"/>
  </p:notesMasterIdLst>
  <p:sldIdLst>
    <p:sldId id="307" r:id="rId6"/>
    <p:sldId id="412" r:id="rId7"/>
    <p:sldId id="413" r:id="rId8"/>
    <p:sldId id="414" r:id="rId9"/>
    <p:sldId id="415" r:id="rId10"/>
    <p:sldId id="416" r:id="rId11"/>
    <p:sldId id="417" r:id="rId12"/>
    <p:sldId id="4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1215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xane desmicht" userId="ac1d6fb7a88f37a7" providerId="LiveId" clId="{93753085-ACB4-4C39-BA21-C7E5BA9510B2}"/>
    <pc:docChg chg="custSel addSld modSld">
      <pc:chgData name="roxane desmicht" userId="ac1d6fb7a88f37a7" providerId="LiveId" clId="{93753085-ACB4-4C39-BA21-C7E5BA9510B2}" dt="2026-04-14T08:41:31.408" v="1088" actId="20577"/>
      <pc:docMkLst>
        <pc:docMk/>
      </pc:docMkLst>
      <pc:sldChg chg="modSp mod">
        <pc:chgData name="roxane desmicht" userId="ac1d6fb7a88f37a7" providerId="LiveId" clId="{93753085-ACB4-4C39-BA21-C7E5BA9510B2}" dt="2026-04-07T07:17:06.311" v="878" actId="20577"/>
        <pc:sldMkLst>
          <pc:docMk/>
          <pc:sldMk cId="1439701262" sldId="412"/>
        </pc:sldMkLst>
        <pc:spChg chg="mod">
          <ac:chgData name="roxane desmicht" userId="ac1d6fb7a88f37a7" providerId="LiveId" clId="{93753085-ACB4-4C39-BA21-C7E5BA9510B2}" dt="2026-04-07T07:17:06.311" v="878" actId="20577"/>
          <ac:spMkLst>
            <pc:docMk/>
            <pc:sldMk cId="1439701262" sldId="412"/>
            <ac:spMk id="2" creationId="{00000000-0000-0000-0000-000000000000}"/>
          </ac:spMkLst>
        </pc:spChg>
      </pc:sldChg>
      <pc:sldChg chg="modSp mod">
        <pc:chgData name="roxane desmicht" userId="ac1d6fb7a88f37a7" providerId="LiveId" clId="{93753085-ACB4-4C39-BA21-C7E5BA9510B2}" dt="2026-04-07T07:17:12.644" v="891" actId="20577"/>
        <pc:sldMkLst>
          <pc:docMk/>
          <pc:sldMk cId="3488801263" sldId="413"/>
        </pc:sldMkLst>
        <pc:spChg chg="mod">
          <ac:chgData name="roxane desmicht" userId="ac1d6fb7a88f37a7" providerId="LiveId" clId="{93753085-ACB4-4C39-BA21-C7E5BA9510B2}" dt="2026-04-07T07:17:12.644" v="891" actId="20577"/>
          <ac:spMkLst>
            <pc:docMk/>
            <pc:sldMk cId="3488801263" sldId="413"/>
            <ac:spMk id="2" creationId="{525A30CA-79B9-01DF-E403-36B3A09BC902}"/>
          </ac:spMkLst>
        </pc:spChg>
      </pc:sldChg>
      <pc:sldChg chg="modSp mod">
        <pc:chgData name="roxane desmicht" userId="ac1d6fb7a88f37a7" providerId="LiveId" clId="{93753085-ACB4-4C39-BA21-C7E5BA9510B2}" dt="2026-04-07T07:17:19.439" v="904" actId="20577"/>
        <pc:sldMkLst>
          <pc:docMk/>
          <pc:sldMk cId="4109959839" sldId="414"/>
        </pc:sldMkLst>
        <pc:spChg chg="mod">
          <ac:chgData name="roxane desmicht" userId="ac1d6fb7a88f37a7" providerId="LiveId" clId="{93753085-ACB4-4C39-BA21-C7E5BA9510B2}" dt="2026-04-07T07:17:19.439" v="904" actId="20577"/>
          <ac:spMkLst>
            <pc:docMk/>
            <pc:sldMk cId="4109959839" sldId="414"/>
            <ac:spMk id="2" creationId="{F1B41CF1-2305-3D2A-D243-5E75FCA1E07A}"/>
          </ac:spMkLst>
        </pc:spChg>
      </pc:sldChg>
      <pc:sldChg chg="addSp delSp modSp add mod modAnim">
        <pc:chgData name="roxane desmicht" userId="ac1d6fb7a88f37a7" providerId="LiveId" clId="{93753085-ACB4-4C39-BA21-C7E5BA9510B2}" dt="2026-04-07T07:17:29.044" v="924" actId="20577"/>
        <pc:sldMkLst>
          <pc:docMk/>
          <pc:sldMk cId="1364980511" sldId="415"/>
        </pc:sldMkLst>
        <pc:spChg chg="mod">
          <ac:chgData name="roxane desmicht" userId="ac1d6fb7a88f37a7" providerId="LiveId" clId="{93753085-ACB4-4C39-BA21-C7E5BA9510B2}" dt="2026-04-07T07:17:29.044" v="924" actId="20577"/>
          <ac:spMkLst>
            <pc:docMk/>
            <pc:sldMk cId="1364980511" sldId="415"/>
            <ac:spMk id="2" creationId="{1303C8DB-9A5E-619E-954C-1107DEB7A2F0}"/>
          </ac:spMkLst>
        </pc:spChg>
        <pc:spChg chg="add mod">
          <ac:chgData name="roxane desmicht" userId="ac1d6fb7a88f37a7" providerId="LiveId" clId="{93753085-ACB4-4C39-BA21-C7E5BA9510B2}" dt="2026-04-07T07:06:47.767" v="54" actId="20577"/>
          <ac:spMkLst>
            <pc:docMk/>
            <pc:sldMk cId="1364980511" sldId="415"/>
            <ac:spMk id="6" creationId="{7939FAC3-0ADC-8229-7BA5-18F5164E5DAF}"/>
          </ac:spMkLst>
        </pc:spChg>
        <pc:spChg chg="add mod">
          <ac:chgData name="roxane desmicht" userId="ac1d6fb7a88f37a7" providerId="LiveId" clId="{93753085-ACB4-4C39-BA21-C7E5BA9510B2}" dt="2026-04-07T07:06:27.559" v="10" actId="1076"/>
          <ac:spMkLst>
            <pc:docMk/>
            <pc:sldMk cId="1364980511" sldId="415"/>
            <ac:spMk id="7" creationId="{E8FA4461-6CC9-48AC-F1C6-EC2D57016B97}"/>
          </ac:spMkLst>
        </pc:spChg>
        <pc:spChg chg="mod">
          <ac:chgData name="roxane desmicht" userId="ac1d6fb7a88f37a7" providerId="LiveId" clId="{93753085-ACB4-4C39-BA21-C7E5BA9510B2}" dt="2026-04-07T07:06:55.366" v="56" actId="20577"/>
          <ac:spMkLst>
            <pc:docMk/>
            <pc:sldMk cId="1364980511" sldId="415"/>
            <ac:spMk id="11" creationId="{11CF321E-AC68-0CFB-03B2-696C08CE9539}"/>
          </ac:spMkLst>
        </pc:spChg>
        <pc:spChg chg="mod">
          <ac:chgData name="roxane desmicht" userId="ac1d6fb7a88f37a7" providerId="LiveId" clId="{93753085-ACB4-4C39-BA21-C7E5BA9510B2}" dt="2026-04-07T07:06:27.559" v="10" actId="1076"/>
          <ac:spMkLst>
            <pc:docMk/>
            <pc:sldMk cId="1364980511" sldId="415"/>
            <ac:spMk id="12" creationId="{99D6459B-0C02-AE99-CFCD-3504445FBDA3}"/>
          </ac:spMkLst>
        </pc:spChg>
        <pc:grpChg chg="add mod">
          <ac:chgData name="roxane desmicht" userId="ac1d6fb7a88f37a7" providerId="LiveId" clId="{93753085-ACB4-4C39-BA21-C7E5BA9510B2}" dt="2026-04-07T07:06:27.559" v="10" actId="1076"/>
          <ac:grpSpMkLst>
            <pc:docMk/>
            <pc:sldMk cId="1364980511" sldId="415"/>
            <ac:grpSpMk id="10" creationId="{8A6EEC68-F31F-EED1-9C74-30E785B71B53}"/>
          </ac:grpSpMkLst>
        </pc:grpChg>
        <pc:graphicFrameChg chg="add mod">
          <ac:chgData name="roxane desmicht" userId="ac1d6fb7a88f37a7" providerId="LiveId" clId="{93753085-ACB4-4C39-BA21-C7E5BA9510B2}" dt="2026-04-07T07:06:27.559" v="10" actId="1076"/>
          <ac:graphicFrameMkLst>
            <pc:docMk/>
            <pc:sldMk cId="1364980511" sldId="415"/>
            <ac:graphicFrameMk id="8" creationId="{B241E400-119B-080C-ACCE-D826FD25E588}"/>
          </ac:graphicFrameMkLst>
        </pc:graphicFrameChg>
        <pc:graphicFrameChg chg="add mod">
          <ac:chgData name="roxane desmicht" userId="ac1d6fb7a88f37a7" providerId="LiveId" clId="{93753085-ACB4-4C39-BA21-C7E5BA9510B2}" dt="2026-04-07T07:06:27.559" v="10" actId="1076"/>
          <ac:graphicFrameMkLst>
            <pc:docMk/>
            <pc:sldMk cId="1364980511" sldId="415"/>
            <ac:graphicFrameMk id="9" creationId="{4BD7FA25-10BB-7E52-B442-8EB496B9D6E0}"/>
          </ac:graphicFrameMkLst>
        </pc:graphicFrameChg>
      </pc:sldChg>
      <pc:sldChg chg="addSp delSp modSp add mod">
        <pc:chgData name="roxane desmicht" userId="ac1d6fb7a88f37a7" providerId="LiveId" clId="{93753085-ACB4-4C39-BA21-C7E5BA9510B2}" dt="2026-04-14T08:41:31.408" v="1088" actId="20577"/>
        <pc:sldMkLst>
          <pc:docMk/>
          <pc:sldMk cId="3625459562" sldId="416"/>
        </pc:sldMkLst>
        <pc:spChg chg="mod">
          <ac:chgData name="roxane desmicht" userId="ac1d6fb7a88f37a7" providerId="LiveId" clId="{93753085-ACB4-4C39-BA21-C7E5BA9510B2}" dt="2026-04-07T07:17:48.655" v="944" actId="20577"/>
          <ac:spMkLst>
            <pc:docMk/>
            <pc:sldMk cId="3625459562" sldId="416"/>
            <ac:spMk id="2" creationId="{2771F1CF-6DB7-4CD7-3AEA-400DB992F114}"/>
          </ac:spMkLst>
        </pc:spChg>
        <pc:spChg chg="mod">
          <ac:chgData name="roxane desmicht" userId="ac1d6fb7a88f37a7" providerId="LiveId" clId="{93753085-ACB4-4C39-BA21-C7E5BA9510B2}" dt="2026-04-07T07:07:45.826" v="86" actId="20577"/>
          <ac:spMkLst>
            <pc:docMk/>
            <pc:sldMk cId="3625459562" sldId="416"/>
            <ac:spMk id="7" creationId="{BB557442-4F4E-70AF-7750-1BAD4E527968}"/>
          </ac:spMkLst>
        </pc:spChg>
        <pc:spChg chg="mod">
          <ac:chgData name="roxane desmicht" userId="ac1d6fb7a88f37a7" providerId="LiveId" clId="{93753085-ACB4-4C39-BA21-C7E5BA9510B2}" dt="2026-04-07T07:08:38.512" v="138" actId="20577"/>
          <ac:spMkLst>
            <pc:docMk/>
            <pc:sldMk cId="3625459562" sldId="416"/>
            <ac:spMk id="8" creationId="{78FDEA88-16CC-D31D-DA3E-EFA879989D1B}"/>
          </ac:spMkLst>
        </pc:spChg>
        <pc:spChg chg="mod">
          <ac:chgData name="roxane desmicht" userId="ac1d6fb7a88f37a7" providerId="LiveId" clId="{93753085-ACB4-4C39-BA21-C7E5BA9510B2}" dt="2026-04-07T07:08:18.543" v="117" actId="20577"/>
          <ac:spMkLst>
            <pc:docMk/>
            <pc:sldMk cId="3625459562" sldId="416"/>
            <ac:spMk id="9" creationId="{4D1DA454-DA78-F93F-91D2-0A3A8AE82156}"/>
          </ac:spMkLst>
        </pc:spChg>
        <pc:spChg chg="mod">
          <ac:chgData name="roxane desmicht" userId="ac1d6fb7a88f37a7" providerId="LiveId" clId="{93753085-ACB4-4C39-BA21-C7E5BA9510B2}" dt="2026-04-07T07:09:07.881" v="162" actId="20577"/>
          <ac:spMkLst>
            <pc:docMk/>
            <pc:sldMk cId="3625459562" sldId="416"/>
            <ac:spMk id="10" creationId="{F3EC9678-1141-D2E5-59CC-0EC9A2BBDD3B}"/>
          </ac:spMkLst>
        </pc:spChg>
        <pc:spChg chg="mod">
          <ac:chgData name="roxane desmicht" userId="ac1d6fb7a88f37a7" providerId="LiveId" clId="{93753085-ACB4-4C39-BA21-C7E5BA9510B2}" dt="2026-04-07T07:09:18.065" v="177" actId="20577"/>
          <ac:spMkLst>
            <pc:docMk/>
            <pc:sldMk cId="3625459562" sldId="416"/>
            <ac:spMk id="11" creationId="{50935E4F-A51A-902D-2F1C-E1A40299A1EF}"/>
          </ac:spMkLst>
        </pc:spChg>
        <pc:spChg chg="mod">
          <ac:chgData name="roxane desmicht" userId="ac1d6fb7a88f37a7" providerId="LiveId" clId="{93753085-ACB4-4C39-BA21-C7E5BA9510B2}" dt="2026-04-07T07:08:47.359" v="146" actId="20577"/>
          <ac:spMkLst>
            <pc:docMk/>
            <pc:sldMk cId="3625459562" sldId="416"/>
            <ac:spMk id="12" creationId="{F9448B45-BF73-B147-BE35-07BD1D54CB4D}"/>
          </ac:spMkLst>
        </pc:spChg>
        <pc:spChg chg="mod">
          <ac:chgData name="roxane desmicht" userId="ac1d6fb7a88f37a7" providerId="LiveId" clId="{93753085-ACB4-4C39-BA21-C7E5BA9510B2}" dt="2026-04-14T08:41:31.408" v="1088" actId="20577"/>
          <ac:spMkLst>
            <pc:docMk/>
            <pc:sldMk cId="3625459562" sldId="416"/>
            <ac:spMk id="16" creationId="{DC00D765-95CB-4B17-6B9E-8D7E8A0FDDAA}"/>
          </ac:spMkLst>
        </pc:spChg>
        <pc:spChg chg="mod">
          <ac:chgData name="roxane desmicht" userId="ac1d6fb7a88f37a7" providerId="LiveId" clId="{93753085-ACB4-4C39-BA21-C7E5BA9510B2}" dt="2026-04-07T07:09:57.370" v="220" actId="20577"/>
          <ac:spMkLst>
            <pc:docMk/>
            <pc:sldMk cId="3625459562" sldId="416"/>
            <ac:spMk id="17" creationId="{9A357665-FEF6-5A94-3760-868DEC0BB4CC}"/>
          </ac:spMkLst>
        </pc:spChg>
        <pc:spChg chg="mod">
          <ac:chgData name="roxane desmicht" userId="ac1d6fb7a88f37a7" providerId="LiveId" clId="{93753085-ACB4-4C39-BA21-C7E5BA9510B2}" dt="2026-04-07T07:10:19.357" v="258" actId="20577"/>
          <ac:spMkLst>
            <pc:docMk/>
            <pc:sldMk cId="3625459562" sldId="416"/>
            <ac:spMk id="19" creationId="{E89B88FE-67DB-F1B0-E19E-3AFDE7C1D712}"/>
          </ac:spMkLst>
        </pc:spChg>
        <pc:spChg chg="mod">
          <ac:chgData name="roxane desmicht" userId="ac1d6fb7a88f37a7" providerId="LiveId" clId="{93753085-ACB4-4C39-BA21-C7E5BA9510B2}" dt="2026-04-07T07:10:46.963" v="316" actId="20577"/>
          <ac:spMkLst>
            <pc:docMk/>
            <pc:sldMk cId="3625459562" sldId="416"/>
            <ac:spMk id="22" creationId="{449B6572-8779-D0D9-1DA6-074225A7C045}"/>
          </ac:spMkLst>
        </pc:spChg>
        <pc:spChg chg="mod">
          <ac:chgData name="roxane desmicht" userId="ac1d6fb7a88f37a7" providerId="LiveId" clId="{93753085-ACB4-4C39-BA21-C7E5BA9510B2}" dt="2026-04-07T07:11:18.819" v="347" actId="20577"/>
          <ac:spMkLst>
            <pc:docMk/>
            <pc:sldMk cId="3625459562" sldId="416"/>
            <ac:spMk id="23" creationId="{E586A5B8-5ACB-D1BF-11D8-DB1FFFCAFE94}"/>
          </ac:spMkLst>
        </pc:spChg>
        <pc:grpChg chg="mod">
          <ac:chgData name="roxane desmicht" userId="ac1d6fb7a88f37a7" providerId="LiveId" clId="{93753085-ACB4-4C39-BA21-C7E5BA9510B2}" dt="2026-04-07T07:07:22.211" v="58" actId="1076"/>
          <ac:grpSpMkLst>
            <pc:docMk/>
            <pc:sldMk cId="3625459562" sldId="416"/>
            <ac:grpSpMk id="4" creationId="{AEC53CD6-F1F9-188F-4053-02CC558681B1}"/>
          </ac:grpSpMkLst>
        </pc:grpChg>
        <pc:grpChg chg="mod">
          <ac:chgData name="roxane desmicht" userId="ac1d6fb7a88f37a7" providerId="LiveId" clId="{93753085-ACB4-4C39-BA21-C7E5BA9510B2}" dt="2026-04-07T07:07:22.211" v="58" actId="1076"/>
          <ac:grpSpMkLst>
            <pc:docMk/>
            <pc:sldMk cId="3625459562" sldId="416"/>
            <ac:grpSpMk id="13" creationId="{CAA19A7C-8C68-5B7B-D545-D006666359B3}"/>
          </ac:grpSpMkLst>
        </pc:grpChg>
        <pc:grpChg chg="mod">
          <ac:chgData name="roxane desmicht" userId="ac1d6fb7a88f37a7" providerId="LiveId" clId="{93753085-ACB4-4C39-BA21-C7E5BA9510B2}" dt="2026-04-07T07:07:22.211" v="58" actId="1076"/>
          <ac:grpSpMkLst>
            <pc:docMk/>
            <pc:sldMk cId="3625459562" sldId="416"/>
            <ac:grpSpMk id="18" creationId="{CF7AA8C4-9F25-F609-080F-96DA6B5D355A}"/>
          </ac:grpSpMkLst>
        </pc:grpChg>
      </pc:sldChg>
      <pc:sldChg chg="addSp modSp add mod">
        <pc:chgData name="roxane desmicht" userId="ac1d6fb7a88f37a7" providerId="LiveId" clId="{93753085-ACB4-4C39-BA21-C7E5BA9510B2}" dt="2026-04-07T07:19:22.627" v="1084" actId="20577"/>
        <pc:sldMkLst>
          <pc:docMk/>
          <pc:sldMk cId="655093731" sldId="417"/>
        </pc:sldMkLst>
        <pc:spChg chg="mod">
          <ac:chgData name="roxane desmicht" userId="ac1d6fb7a88f37a7" providerId="LiveId" clId="{93753085-ACB4-4C39-BA21-C7E5BA9510B2}" dt="2026-04-07T07:17:56.874" v="964" actId="20577"/>
          <ac:spMkLst>
            <pc:docMk/>
            <pc:sldMk cId="655093731" sldId="417"/>
            <ac:spMk id="2" creationId="{C72EE279-7894-72C9-85A4-AC376B0E82F8}"/>
          </ac:spMkLst>
        </pc:spChg>
        <pc:spChg chg="add mod">
          <ac:chgData name="roxane desmicht" userId="ac1d6fb7a88f37a7" providerId="LiveId" clId="{93753085-ACB4-4C39-BA21-C7E5BA9510B2}" dt="2026-04-07T07:19:22.627" v="1084" actId="20577"/>
          <ac:spMkLst>
            <pc:docMk/>
            <pc:sldMk cId="655093731" sldId="417"/>
            <ac:spMk id="4" creationId="{F12AECBA-FA31-B07D-18C0-80B38C54717A}"/>
          </ac:spMkLst>
        </pc:spChg>
      </pc:sldChg>
      <pc:sldChg chg="addSp modSp add mod">
        <pc:chgData name="roxane desmicht" userId="ac1d6fb7a88f37a7" providerId="LiveId" clId="{93753085-ACB4-4C39-BA21-C7E5BA9510B2}" dt="2026-04-07T07:18:14.239" v="984" actId="20577"/>
        <pc:sldMkLst>
          <pc:docMk/>
          <pc:sldMk cId="3660385000" sldId="418"/>
        </pc:sldMkLst>
        <pc:spChg chg="mod">
          <ac:chgData name="roxane desmicht" userId="ac1d6fb7a88f37a7" providerId="LiveId" clId="{93753085-ACB4-4C39-BA21-C7E5BA9510B2}" dt="2026-04-07T07:18:14.239" v="984" actId="20577"/>
          <ac:spMkLst>
            <pc:docMk/>
            <pc:sldMk cId="3660385000" sldId="418"/>
            <ac:spMk id="2" creationId="{E8D8861C-C3A8-9E0C-4ADA-F81460F17884}"/>
          </ac:spMkLst>
        </pc:spChg>
        <pc:spChg chg="add mod">
          <ac:chgData name="roxane desmicht" userId="ac1d6fb7a88f37a7" providerId="LiveId" clId="{93753085-ACB4-4C39-BA21-C7E5BA9510B2}" dt="2026-04-07T07:16:51.076" v="865" actId="20577"/>
          <ac:spMkLst>
            <pc:docMk/>
            <pc:sldMk cId="3660385000" sldId="418"/>
            <ac:spMk id="5" creationId="{A5B92A9B-0372-3ED6-D685-BA75BB6A7836}"/>
          </ac:spMkLst>
        </pc:spChg>
        <pc:graphicFrameChg chg="add mod modGraphic">
          <ac:chgData name="roxane desmicht" userId="ac1d6fb7a88f37a7" providerId="LiveId" clId="{93753085-ACB4-4C39-BA21-C7E5BA9510B2}" dt="2026-04-07T07:16:35.470" v="857" actId="20577"/>
          <ac:graphicFrameMkLst>
            <pc:docMk/>
            <pc:sldMk cId="3660385000" sldId="418"/>
            <ac:graphicFrameMk id="4" creationId="{F29EC6CB-7131-E041-62D7-C91F95E4F3DC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</c:spPr>
          <c:invertIfNegative val="0"/>
          <c:cat>
            <c:numRef>
              <c:f>Feuil1!$A$2:$A$13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Feuil1!$B$2:$B$13</c:f>
              <c:numCache>
                <c:formatCode>General</c:formatCode>
                <c:ptCount val="12"/>
                <c:pt idx="0">
                  <c:v>16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15</c:v>
                </c:pt>
                <c:pt idx="5">
                  <c:v>22</c:v>
                </c:pt>
                <c:pt idx="6">
                  <c:v>25</c:v>
                </c:pt>
                <c:pt idx="7">
                  <c:v>25</c:v>
                </c:pt>
                <c:pt idx="8">
                  <c:v>30</c:v>
                </c:pt>
                <c:pt idx="9">
                  <c:v>30</c:v>
                </c:pt>
                <c:pt idx="10">
                  <c:v>25</c:v>
                </c:pt>
                <c:pt idx="1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E5-4515-827C-9616E7EBDF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6"/>
        <c:overlap val="100"/>
        <c:axId val="490815040"/>
        <c:axId val="490815432"/>
      </c:barChart>
      <c:catAx>
        <c:axId val="490815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490815432"/>
        <c:crosses val="autoZero"/>
        <c:auto val="1"/>
        <c:lblAlgn val="ctr"/>
        <c:lblOffset val="100"/>
        <c:noMultiLvlLbl val="0"/>
      </c:catAx>
      <c:valAx>
        <c:axId val="4908154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49081504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>
          <a:latin typeface="Roboto Condensed" pitchFamily="2" charset="0"/>
          <a:ea typeface="Roboto Condensed" pitchFamily="2" charset="0"/>
        </a:defRPr>
      </a:pPr>
      <a:endParaRPr lang="fr-F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9DC0C2-9D13-480D-924C-740DD5289A60}" type="datetimeFigureOut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25324-CD8D-481B-91D4-2C69C83DC5C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393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 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1424FB-B2C2-353E-14D4-EFE09240D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8914B1-F434-C88C-1B24-EBDAF7B47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"/>
              <a:t>Change the style of the mask's captions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60A427-94AB-266C-05D9-894D28BB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63B9-41B1-4EF2-8906-C69C7E5D6910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3ADA64-25D8-62F7-D91E-41769E81E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2C5995-F5AE-4DD5-2DC7-CB37CF74D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57E5659-F736-B588-3DA3-D2AED684C8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2560" y="45415"/>
            <a:ext cx="2532649" cy="98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2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505C6-B8BF-210B-FA0F-42B0A9C3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F25542-BF78-CB7E-EAE0-2D3C762C7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7DE763-A209-D439-516B-9CFE3713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1263-5133-4A3F-AF29-67276BC9E376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4613AC-78B1-CD1C-01D6-251B95479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40CD6-2FC8-B560-F471-95777FF9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B9CB68F-7D20-8FD2-66F6-30B684703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38" y="60403"/>
            <a:ext cx="476924" cy="4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9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 b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505C6-B8BF-210B-FA0F-42B0A9C36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51" y="-196128"/>
            <a:ext cx="10515600" cy="1325563"/>
          </a:xfrm>
        </p:spPr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2F25542-BF78-CB7E-EAE0-2D3C762C7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6851" y="1253331"/>
            <a:ext cx="10790446" cy="493305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7DE763-A209-D439-516B-9CFE37133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C1263-5133-4A3F-AF29-67276BC9E376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4613AC-78B1-CD1C-01D6-251B95479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E40CD6-2FC8-B560-F471-95777FF98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B9CB68F-7D20-8FD2-66F6-30B684703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5938" y="60403"/>
            <a:ext cx="476924" cy="4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729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363C2C-3372-7819-514D-230E3F84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3C4435-4A01-04D1-3474-209E32B5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DF2EC96-70FF-1274-AD63-B4AB4C97E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EF1F9-5395-45A8-A3A2-5E8E68D343FC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C82CBA-CF65-E5D2-0B88-33A6D851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7A0144-CBEA-E7A5-1B96-C15D732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923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760DFC-8E4D-8D7D-FE9E-D016FBCFD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42315A-08F1-862D-0CE4-A6B3FA16E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ADB3299-D812-F071-0FA8-2E695B84F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736EAE0-ECBF-884B-BBAF-E12C00F2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7F815-BF12-4A59-9983-4A508F1EE457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289DA1-770E-89F5-EA2B-DFEB45FC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7D89B5-BD14-83ED-2A17-B708B89E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641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CD1517-5F8C-616B-229A-AA3FB17A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D8C2F85-7020-1EED-DB3F-BF6B93F0A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02A681-0A44-6617-B5C8-B6D28109C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22AF14-7F0D-8F7A-20D0-02AC272E6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D66910-CCD6-0285-F9D0-D54424F234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2E93219-D9AA-580E-F7A8-B29249823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E5BE8-B1A6-4154-B7A9-AC99CD5F69A1}" type="datetime1">
              <a:rPr lang="fr-FR" smtClean="0"/>
              <a:t>14/04/2026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94FD95B-9027-A2E7-2C5E-8E4B9CBC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F79F18E-B1FB-1138-52D5-C63C2F3A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83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E6BE9F-3BA2-3FBB-C89A-95A72E6C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2755B9C-68B7-23C3-573D-B71712F8D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C4647-F711-4BE0-B12C-831B528B88AA}" type="datetime1">
              <a:rPr lang="fr-FR" smtClean="0"/>
              <a:t>14/04/2026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2643EA-1A58-2BD4-6EE9-99F1F258B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3359BF-7835-68E1-3EDE-0EA61A4B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97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0EB7AB5-0030-7B1F-4030-EEF44116C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8F19C-CB2F-4D76-AA0B-06FDD06C7D9E}" type="datetime1">
              <a:rPr lang="fr-FR" smtClean="0"/>
              <a:t>14/04/2026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D5EE8CF-57D9-CF0D-4784-0E8F6D84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28DA041-3E3C-6D49-CF63-9581CEEC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552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8FBDAC-795E-9E5D-B1A3-9AE9702EF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7CDC07-EBA8-6DA8-A0C4-BDD18EB4F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12048EF-7FE3-C7AE-4AE5-E29683D45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7893E0-322B-F6B0-0123-6D8DA2ADD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A2F0D-45A5-4A20-B4B2-6E16E0083518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270E30-B7DE-719D-352E-DB719940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160212-88F0-D637-2131-CE00E060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53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D9B561-3FEE-2785-73D7-5949A95FA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"/>
              <a:t>Change the style of the title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31CB62C-0CD8-01E5-9975-64DAB252F1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7B9B561-E93A-FC26-1826-B41E6B51C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"/>
              <a:t>Click to change the styles of the mask text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19A63C-0A01-1554-254C-E24DD190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2F3D-CBDE-43A3-B3E4-BEE175F52B0F}" type="datetime1">
              <a:rPr lang="fr-FR" smtClean="0"/>
              <a:t>14/04/2026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44BCFD9-3963-1EF3-366B-26D1BE0F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35CFF0E-1A81-9EB4-6751-1A373C80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097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D0F98B-22B0-BB05-D8B6-E4D1F5E0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7F851B-BE91-A431-2DC8-171C97051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10C4FB-CC8D-C727-346B-A7C634DF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24E5-3382-48E1-80B2-28901262BD85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0DFA09-3D99-C369-E377-A3E03E01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F1E5B5-F506-CE71-D6B0-A9846E1E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3428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E7DB6F0-644B-EC13-DD42-8CCDC52C1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16C591E-A17B-C4B9-3EC9-710FA461E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182A9A7-F766-53A7-7B8E-D3D799BA3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F1642-828A-4A9B-A0D9-ACC2537DE6CF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8E2B65-42D7-8672-D9CB-D23D26E9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6C168C-7FD2-DF23-947B-FB6FC121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548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1E1A466-517E-88E2-69B0-B64358A7D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"/>
              <a:t>Change the style of the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29793F8-5A78-E1E3-FB4E-48132E36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"/>
              <a:t>Click to change the styles of the mask text</a:t>
            </a:r>
          </a:p>
          <a:p>
            <a:pPr lvl="1"/>
            <a:r>
              <a:rPr lang="en"/>
              <a:t>Second level</a:t>
            </a:r>
          </a:p>
          <a:p>
            <a:pPr lvl="2"/>
            <a:r>
              <a:rPr lang="en"/>
              <a:t>Third level</a:t>
            </a:r>
          </a:p>
          <a:p>
            <a:pPr lvl="3"/>
            <a:r>
              <a:rPr lang="en"/>
              <a:t>Fourth level</a:t>
            </a:r>
          </a:p>
          <a:p>
            <a:pPr lvl="4"/>
            <a:r>
              <a:rPr lang="en"/>
              <a:t>Fifth Level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7B0DAA-515C-8372-F3DE-9B64B7777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278" y="6356349"/>
            <a:ext cx="10791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5F8E44-A292-441B-84B3-789F3F706E47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42090D-3DD0-9C8B-C350-D97F0CCF6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8800" y="6353525"/>
            <a:ext cx="8727790" cy="36512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9F9E31-B162-1888-EE2E-29E9FD2E1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5145" y="6356350"/>
            <a:ext cx="5386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97BA5-F408-414D-A13C-638556FCCB0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24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23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105BF1-E1CA-717D-EF50-755C5D954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" sz="4400" err="1"/>
              <a:t>Manufacturing and Service Operations</a:t>
            </a:r>
            <a:br>
              <a:rPr lang="fr-FR" sz="4400"/>
            </a:br>
            <a:r>
              <a:rPr lang="en" sz="4400"/>
              <a:t>MSO 40.012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ED98EFD-DCB5-6810-96B9-32FCC98D81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/>
              <a:t>R Desmicht – Adjunct Professor SUTD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1CDB2C-1D41-C9EF-AFFC-DDA252718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63B9-41B1-4EF2-8906-C69C7E5D6910}" type="datetime1">
              <a:rPr lang="fr-FR" smtClean="0"/>
              <a:t>14/04/2026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415F59-FD4E-966B-BB6E-4FB7DBFB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"/>
              <a:t>R Desmicht – SUTD ESD MSO</a:t>
            </a:r>
          </a:p>
          <a:p>
            <a:r>
              <a:rPr lang="en">
                <a:latin typeface="SFSS1095"/>
              </a:rPr>
              <a:t>©</a:t>
            </a:r>
            <a:r>
              <a:rPr lang="en">
                <a:latin typeface="CMSS8"/>
              </a:rPr>
              <a:t>For limited distribution to SUTD-MSO students. All other rights reserved.</a:t>
            </a:r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DA033F-9925-F9F7-7DEE-03B1BF68A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97BA5-F408-414D-A13C-638556FCCB0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1026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Forecasting: Example 1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6ABA5BDB-BE8D-5AF4-D0B2-A0EA7921D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59D1AD1-F82F-B49F-0B2F-967284CE4FA6}"/>
              </a:ext>
            </a:extLst>
          </p:cNvPr>
          <p:cNvSpPr txBox="1">
            <a:spLocks noChangeArrowheads="1"/>
          </p:cNvSpPr>
          <p:nvPr/>
        </p:nvSpPr>
        <p:spPr>
          <a:xfrm>
            <a:off x="99645" y="3044190"/>
            <a:ext cx="11183471" cy="31203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400" dirty="0"/>
              <a:t>Plot the data. Do </a:t>
            </a:r>
            <a:r>
              <a:rPr lang="fr-FR" altLang="fr-FR" sz="2400" dirty="0" err="1"/>
              <a:t>you</a:t>
            </a:r>
            <a:r>
              <a:rPr lang="fr-FR" altLang="fr-FR" sz="2400" dirty="0"/>
              <a:t> </a:t>
            </a:r>
            <a:r>
              <a:rPr lang="fr-FR" altLang="fr-FR" sz="2400" dirty="0" err="1"/>
              <a:t>see</a:t>
            </a:r>
            <a:r>
              <a:rPr lang="fr-FR" altLang="fr-FR" sz="2400" dirty="0"/>
              <a:t> </a:t>
            </a:r>
            <a:r>
              <a:rPr lang="fr-FR" altLang="fr-FR" sz="2400" dirty="0" err="1"/>
              <a:t>any</a:t>
            </a:r>
            <a:r>
              <a:rPr lang="fr-FR" altLang="fr-FR" sz="2400" dirty="0"/>
              <a:t> trend, cycle or </a:t>
            </a:r>
            <a:r>
              <a:rPr lang="fr-FR" altLang="fr-FR" sz="2400" dirty="0" err="1"/>
              <a:t>random</a:t>
            </a:r>
            <a:r>
              <a:rPr lang="fr-FR" altLang="fr-FR" sz="2400" dirty="0"/>
              <a:t> variations?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400" dirty="0" err="1"/>
              <a:t>Starting</a:t>
            </a:r>
            <a:r>
              <a:rPr lang="fr-FR" altLang="fr-FR" sz="2400" dirty="0"/>
              <a:t> in </a:t>
            </a:r>
            <a:r>
              <a:rPr lang="fr-FR" altLang="fr-FR" sz="2400" dirty="0" err="1"/>
              <a:t>year</a:t>
            </a:r>
            <a:r>
              <a:rPr lang="fr-FR" altLang="fr-FR" sz="2400" dirty="0"/>
              <a:t> 4 to 12 </a:t>
            </a:r>
            <a:r>
              <a:rPr lang="fr-FR" altLang="fr-FR" sz="2400" dirty="0" err="1"/>
              <a:t>forecast</a:t>
            </a:r>
            <a:r>
              <a:rPr lang="fr-FR" altLang="fr-FR" sz="2400" dirty="0"/>
              <a:t> </a:t>
            </a:r>
            <a:r>
              <a:rPr lang="fr-FR" altLang="fr-FR" sz="2400" dirty="0" err="1"/>
              <a:t>demand</a:t>
            </a:r>
            <a:r>
              <a:rPr lang="fr-FR" altLang="fr-FR" sz="2400" dirty="0"/>
              <a:t> </a:t>
            </a:r>
            <a:r>
              <a:rPr lang="fr-FR" altLang="fr-FR" sz="2400" dirty="0" err="1"/>
              <a:t>using</a:t>
            </a:r>
            <a:r>
              <a:rPr lang="fr-FR" altLang="fr-FR" sz="2400" dirty="0"/>
              <a:t> a 3-year </a:t>
            </a:r>
            <a:r>
              <a:rPr lang="fr-FR" altLang="fr-FR" sz="2400" dirty="0" err="1"/>
              <a:t>moving</a:t>
            </a:r>
            <a:r>
              <a:rPr lang="fr-FR" altLang="fr-FR" sz="2400" dirty="0"/>
              <a:t> </a:t>
            </a:r>
            <a:r>
              <a:rPr lang="fr-FR" altLang="fr-FR" sz="2400" dirty="0" err="1"/>
              <a:t>average</a:t>
            </a:r>
            <a:r>
              <a:rPr lang="fr-FR" altLang="fr-FR" sz="2400" dirty="0"/>
              <a:t>. Plot the </a:t>
            </a:r>
            <a:r>
              <a:rPr lang="fr-FR" altLang="fr-FR" sz="2400" dirty="0" err="1"/>
              <a:t>forecast</a:t>
            </a:r>
            <a:r>
              <a:rPr lang="fr-FR" altLang="fr-FR" sz="2400" dirty="0"/>
              <a:t> on the </a:t>
            </a:r>
            <a:r>
              <a:rPr lang="fr-FR" altLang="fr-FR" sz="2400" dirty="0" err="1"/>
              <a:t>same</a:t>
            </a:r>
            <a:r>
              <a:rPr lang="fr-FR" altLang="fr-FR" sz="2400" dirty="0"/>
              <a:t> graph as the original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400" dirty="0" err="1"/>
              <a:t>Starting</a:t>
            </a:r>
            <a:r>
              <a:rPr lang="fr-FR" altLang="fr-FR" sz="2400" dirty="0"/>
              <a:t> in </a:t>
            </a:r>
            <a:r>
              <a:rPr lang="fr-FR" altLang="fr-FR" sz="2400" dirty="0" err="1"/>
              <a:t>year</a:t>
            </a:r>
            <a:r>
              <a:rPr lang="fr-FR" altLang="fr-FR" sz="2400" dirty="0"/>
              <a:t> 4 to 12 </a:t>
            </a:r>
            <a:r>
              <a:rPr lang="fr-FR" altLang="fr-FR" sz="2400" dirty="0" err="1"/>
              <a:t>forecast</a:t>
            </a:r>
            <a:r>
              <a:rPr lang="fr-FR" altLang="fr-FR" sz="2400" dirty="0"/>
              <a:t> </a:t>
            </a:r>
            <a:r>
              <a:rPr lang="fr-FR" altLang="fr-FR" sz="2400" dirty="0" err="1"/>
              <a:t>demand</a:t>
            </a:r>
            <a:r>
              <a:rPr lang="fr-FR" altLang="fr-FR" sz="2400" dirty="0"/>
              <a:t> </a:t>
            </a:r>
            <a:r>
              <a:rPr lang="fr-FR" altLang="fr-FR" sz="2400" dirty="0" err="1"/>
              <a:t>using</a:t>
            </a:r>
            <a:r>
              <a:rPr lang="fr-FR" altLang="fr-FR" sz="2400" dirty="0"/>
              <a:t> a 3-year </a:t>
            </a:r>
            <a:r>
              <a:rPr lang="fr-FR" altLang="fr-FR" sz="2400" dirty="0" err="1"/>
              <a:t>moving</a:t>
            </a:r>
            <a:r>
              <a:rPr lang="fr-FR" altLang="fr-FR" sz="2400" dirty="0"/>
              <a:t> </a:t>
            </a:r>
            <a:r>
              <a:rPr lang="fr-FR" altLang="fr-FR" sz="2400" dirty="0" err="1"/>
              <a:t>average</a:t>
            </a:r>
            <a:r>
              <a:rPr lang="fr-FR" altLang="fr-FR" sz="2400" dirty="0"/>
              <a:t> </a:t>
            </a:r>
            <a:r>
              <a:rPr lang="fr-FR" altLang="fr-FR" sz="2400" dirty="0" err="1"/>
              <a:t>with</a:t>
            </a:r>
            <a:r>
              <a:rPr lang="fr-FR" altLang="fr-FR" sz="2400" dirty="0"/>
              <a:t> </a:t>
            </a:r>
            <a:r>
              <a:rPr lang="fr-FR" altLang="fr-FR" sz="2400" dirty="0" err="1"/>
              <a:t>weight</a:t>
            </a:r>
            <a:r>
              <a:rPr lang="fr-FR" altLang="fr-FR" sz="2400" dirty="0"/>
              <a:t> of 0,1, 0,3 and 0,6, </a:t>
            </a:r>
            <a:r>
              <a:rPr lang="fr-FR" altLang="fr-FR" sz="2400" dirty="0" err="1"/>
              <a:t>using</a:t>
            </a:r>
            <a:r>
              <a:rPr lang="fr-FR" altLang="fr-FR" sz="2400" dirty="0"/>
              <a:t> 0,6 for the </a:t>
            </a:r>
            <a:r>
              <a:rPr lang="fr-FR" altLang="fr-FR" sz="2400" dirty="0" err="1"/>
              <a:t>most</a:t>
            </a:r>
            <a:r>
              <a:rPr lang="fr-FR" altLang="fr-FR" sz="2400" dirty="0"/>
              <a:t> </a:t>
            </a:r>
            <a:r>
              <a:rPr lang="fr-FR" altLang="fr-FR" sz="2400" dirty="0" err="1"/>
              <a:t>recent</a:t>
            </a:r>
            <a:r>
              <a:rPr lang="fr-FR" altLang="fr-FR" sz="2400" dirty="0"/>
              <a:t> </a:t>
            </a:r>
            <a:r>
              <a:rPr lang="fr-FR" altLang="fr-FR" sz="2400" dirty="0" err="1"/>
              <a:t>year</a:t>
            </a:r>
            <a:r>
              <a:rPr lang="fr-FR" altLang="fr-FR" sz="2400" dirty="0"/>
              <a:t>. Plot the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400" dirty="0" err="1"/>
              <a:t>Develop</a:t>
            </a:r>
            <a:r>
              <a:rPr lang="fr-FR" altLang="fr-FR" sz="2400" dirty="0"/>
              <a:t> of </a:t>
            </a:r>
            <a:r>
              <a:rPr lang="fr-FR" altLang="fr-FR" sz="2400" dirty="0" err="1"/>
              <a:t>forecast</a:t>
            </a:r>
            <a:r>
              <a:rPr lang="fr-FR" altLang="fr-FR" sz="2400" dirty="0"/>
              <a:t> for </a:t>
            </a:r>
            <a:r>
              <a:rPr lang="fr-FR" altLang="fr-FR" sz="2400" dirty="0" err="1"/>
              <a:t>year</a:t>
            </a:r>
            <a:r>
              <a:rPr lang="fr-FR" altLang="fr-FR" sz="2400" dirty="0"/>
              <a:t> 2 </a:t>
            </a:r>
            <a:r>
              <a:rPr lang="fr-FR" altLang="fr-FR" sz="2400" dirty="0" err="1"/>
              <a:t>through</a:t>
            </a:r>
            <a:r>
              <a:rPr lang="fr-FR" altLang="fr-FR" sz="2400" dirty="0"/>
              <a:t> 12 </a:t>
            </a:r>
            <a:r>
              <a:rPr lang="fr-FR" altLang="fr-FR" sz="2400" dirty="0" err="1"/>
              <a:t>using</a:t>
            </a:r>
            <a:r>
              <a:rPr lang="fr-FR" altLang="fr-FR" sz="2400" dirty="0"/>
              <a:t> </a:t>
            </a:r>
            <a:r>
              <a:rPr lang="fr-FR" altLang="fr-FR" sz="2400" dirty="0" err="1"/>
              <a:t>exponential</a:t>
            </a:r>
            <a:r>
              <a:rPr lang="fr-FR" altLang="fr-FR" sz="2400" dirty="0"/>
              <a:t> </a:t>
            </a:r>
            <a:r>
              <a:rPr lang="fr-FR" altLang="fr-FR" sz="2400" dirty="0" err="1"/>
              <a:t>smoothing</a:t>
            </a:r>
            <a:r>
              <a:rPr lang="fr-FR" altLang="fr-FR" sz="2400" dirty="0"/>
              <a:t> </a:t>
            </a:r>
            <a:r>
              <a:rPr lang="fr-FR" altLang="fr-FR" sz="2400" dirty="0" err="1"/>
              <a:t>with</a:t>
            </a:r>
            <a:r>
              <a:rPr lang="fr-FR" altLang="fr-FR" sz="2400" dirty="0"/>
              <a:t> </a:t>
            </a:r>
            <a:r>
              <a:rPr lang="el-GR" altLang="fr-FR" sz="2400" dirty="0"/>
              <a:t>α</a:t>
            </a:r>
            <a:r>
              <a:rPr lang="fr-FR" altLang="fr-FR" sz="2400" dirty="0"/>
              <a:t>=,4 and a </a:t>
            </a:r>
            <a:r>
              <a:rPr lang="fr-FR" altLang="fr-FR" sz="2400" dirty="0" err="1"/>
              <a:t>forecast</a:t>
            </a:r>
            <a:r>
              <a:rPr lang="fr-FR" altLang="fr-FR" sz="2400" dirty="0"/>
              <a:t> for </a:t>
            </a:r>
            <a:r>
              <a:rPr lang="fr-FR" altLang="fr-FR" sz="2400" dirty="0" err="1"/>
              <a:t>year</a:t>
            </a:r>
            <a:r>
              <a:rPr lang="fr-FR" altLang="fr-FR" sz="2400" dirty="0"/>
              <a:t> 1 of 6. Plot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400" dirty="0" err="1"/>
              <a:t>Which</a:t>
            </a:r>
            <a:r>
              <a:rPr lang="fr-FR" altLang="fr-FR" sz="2400" dirty="0"/>
              <a:t> </a:t>
            </a:r>
            <a:r>
              <a:rPr lang="fr-FR" altLang="fr-FR" sz="2400" dirty="0" err="1"/>
              <a:t>forecast</a:t>
            </a:r>
            <a:r>
              <a:rPr lang="fr-FR" altLang="fr-FR" sz="2400" dirty="0"/>
              <a:t> </a:t>
            </a:r>
            <a:r>
              <a:rPr lang="fr-FR" altLang="fr-FR" sz="2400" dirty="0" err="1"/>
              <a:t>is</a:t>
            </a:r>
            <a:r>
              <a:rPr lang="fr-FR" altLang="fr-FR" sz="2400" dirty="0"/>
              <a:t> </a:t>
            </a:r>
            <a:r>
              <a:rPr lang="fr-FR" altLang="fr-FR" sz="2400" dirty="0" err="1"/>
              <a:t>better</a:t>
            </a:r>
            <a:r>
              <a:rPr lang="fr-FR" altLang="fr-FR" sz="2400" dirty="0"/>
              <a:t>?</a:t>
            </a:r>
          </a:p>
          <a:p>
            <a:endParaRPr lang="en" altLang="fr-FR" sz="2400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61CCDFEF-11C5-DAC2-1B88-60590756CA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30618"/>
              </p:ext>
            </p:extLst>
          </p:nvPr>
        </p:nvGraphicFramePr>
        <p:xfrm>
          <a:off x="982980" y="1735666"/>
          <a:ext cx="8399772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40">
                  <a:extLst>
                    <a:ext uri="{9D8B030D-6E8A-4147-A177-3AD203B41FA5}">
                      <a16:colId xmlns:a16="http://schemas.microsoft.com/office/drawing/2014/main" val="3516851184"/>
                    </a:ext>
                  </a:extLst>
                </a:gridCol>
                <a:gridCol w="317922">
                  <a:extLst>
                    <a:ext uri="{9D8B030D-6E8A-4147-A177-3AD203B41FA5}">
                      <a16:colId xmlns:a16="http://schemas.microsoft.com/office/drawing/2014/main" val="72786806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3174302354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2375856288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2407151291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2384180269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137500950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3236347355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335995253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2397094160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3542402610"/>
                    </a:ext>
                  </a:extLst>
                </a:gridCol>
                <a:gridCol w="699981">
                  <a:extLst>
                    <a:ext uri="{9D8B030D-6E8A-4147-A177-3AD203B41FA5}">
                      <a16:colId xmlns:a16="http://schemas.microsoft.com/office/drawing/2014/main" val="15856795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dirty="0" err="1"/>
                        <a:t>year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2378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Demand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716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70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E2E24-3A6B-9CED-4FA7-BC8BCD876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A30CA-79B9-01DF-E403-36B3A09BC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Forecasting: Example 2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8BDA4A11-CB46-D6D4-4E6F-FB963DCBE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7BE771B-F2E2-2FE0-D650-061DCAAF0A71}"/>
              </a:ext>
            </a:extLst>
          </p:cNvPr>
          <p:cNvSpPr txBox="1"/>
          <p:nvPr/>
        </p:nvSpPr>
        <p:spPr>
          <a:xfrm>
            <a:off x="152401" y="853440"/>
            <a:ext cx="49301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The sales of </a:t>
            </a:r>
            <a:r>
              <a:rPr lang="fr-FR" dirty="0" err="1"/>
              <a:t>crop</a:t>
            </a:r>
            <a:r>
              <a:rPr lang="fr-FR" dirty="0"/>
              <a:t> </a:t>
            </a:r>
            <a:r>
              <a:rPr lang="fr-FR" dirty="0" err="1"/>
              <a:t>fertilizer</a:t>
            </a:r>
            <a:r>
              <a:rPr lang="fr-FR" dirty="0"/>
              <a:t> over the </a:t>
            </a:r>
            <a:r>
              <a:rPr lang="fr-FR" dirty="0" err="1"/>
              <a:t>past</a:t>
            </a:r>
            <a:r>
              <a:rPr lang="fr-FR" dirty="0"/>
              <a:t> </a:t>
            </a:r>
            <a:r>
              <a:rPr lang="fr-FR" dirty="0" err="1"/>
              <a:t>year</a:t>
            </a:r>
            <a:r>
              <a:rPr lang="fr-FR" dirty="0"/>
              <a:t> are </a:t>
            </a:r>
            <a:r>
              <a:rPr lang="fr-FR" dirty="0" err="1"/>
              <a:t>shown</a:t>
            </a:r>
            <a:r>
              <a:rPr lang="fr-FR" dirty="0"/>
              <a:t> </a:t>
            </a:r>
            <a:r>
              <a:rPr lang="fr-FR" dirty="0" err="1"/>
              <a:t>below</a:t>
            </a:r>
            <a:r>
              <a:rPr lang="fr-FR" dirty="0"/>
              <a:t>. The management </a:t>
            </a:r>
            <a:r>
              <a:rPr lang="fr-FR" dirty="0" err="1"/>
              <a:t>prepared</a:t>
            </a:r>
            <a:r>
              <a:rPr lang="fr-FR" dirty="0"/>
              <a:t> a </a:t>
            </a:r>
            <a:r>
              <a:rPr lang="fr-FR" dirty="0" err="1"/>
              <a:t>forecast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exponential</a:t>
            </a:r>
            <a:r>
              <a:rPr lang="fr-FR" dirty="0"/>
              <a:t> </a:t>
            </a:r>
            <a:r>
              <a:rPr lang="fr-FR" dirty="0" err="1"/>
              <a:t>smoothing</a:t>
            </a:r>
            <a:r>
              <a:rPr lang="fr-FR" dirty="0"/>
              <a:t> and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market</a:t>
            </a:r>
            <a:r>
              <a:rPr lang="fr-FR" dirty="0"/>
              <a:t> </a:t>
            </a:r>
            <a:r>
              <a:rPr lang="fr-FR" dirty="0" err="1"/>
              <a:t>knowledge</a:t>
            </a:r>
            <a:r>
              <a:rPr lang="fr-FR" dirty="0"/>
              <a:t> for </a:t>
            </a:r>
            <a:r>
              <a:rPr lang="fr-FR" dirty="0" err="1"/>
              <a:t>march</a:t>
            </a:r>
            <a:r>
              <a:rPr lang="fr-FR" dirty="0"/>
              <a:t> to </a:t>
            </a:r>
            <a:r>
              <a:rPr lang="fr-FR" dirty="0" err="1"/>
              <a:t>june</a:t>
            </a:r>
            <a:r>
              <a:rPr lang="fr-FR" dirty="0"/>
              <a:t>. </a:t>
            </a:r>
          </a:p>
          <a:p>
            <a:r>
              <a:rPr lang="fr-FR" dirty="0"/>
              <a:t>In </a:t>
            </a:r>
            <a:r>
              <a:rPr lang="fr-FR" dirty="0" err="1"/>
              <a:t>july</a:t>
            </a:r>
            <a:r>
              <a:rPr lang="fr-FR" dirty="0"/>
              <a:t> </a:t>
            </a:r>
            <a:r>
              <a:rPr lang="fr-FR" dirty="0" err="1"/>
              <a:t>they</a:t>
            </a:r>
            <a:r>
              <a:rPr lang="fr-FR" dirty="0"/>
              <a:t> have </a:t>
            </a:r>
            <a:r>
              <a:rPr lang="fr-FR" dirty="0" err="1"/>
              <a:t>collected</a:t>
            </a:r>
            <a:r>
              <a:rPr lang="fr-FR" dirty="0"/>
              <a:t> the </a:t>
            </a:r>
            <a:r>
              <a:rPr lang="fr-FR" dirty="0" err="1"/>
              <a:t>actual</a:t>
            </a:r>
            <a:r>
              <a:rPr lang="fr-FR" dirty="0"/>
              <a:t> sale.</a:t>
            </a:r>
          </a:p>
          <a:p>
            <a:r>
              <a:rPr lang="fr-FR" dirty="0"/>
              <a:t>1- </a:t>
            </a:r>
            <a:r>
              <a:rPr lang="fr-FR" dirty="0" err="1"/>
              <a:t>compute</a:t>
            </a:r>
            <a:r>
              <a:rPr lang="fr-FR" dirty="0"/>
              <a:t> the </a:t>
            </a:r>
            <a:r>
              <a:rPr lang="fr-FR" dirty="0" err="1"/>
              <a:t>forecast</a:t>
            </a:r>
            <a:r>
              <a:rPr lang="fr-FR" dirty="0"/>
              <a:t> </a:t>
            </a:r>
            <a:r>
              <a:rPr lang="fr-FR" dirty="0" err="1"/>
              <a:t>accuracy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MAPE</a:t>
            </a:r>
          </a:p>
          <a:p>
            <a:r>
              <a:rPr lang="fr-FR" dirty="0"/>
              <a:t>2- </a:t>
            </a:r>
            <a:r>
              <a:rPr lang="fr-FR" dirty="0" err="1"/>
              <a:t>is</a:t>
            </a:r>
            <a:r>
              <a:rPr lang="fr-FR" dirty="0"/>
              <a:t> management </a:t>
            </a:r>
            <a:r>
              <a:rPr lang="fr-FR" dirty="0" err="1"/>
              <a:t>forecast</a:t>
            </a:r>
            <a:r>
              <a:rPr lang="fr-FR" dirty="0"/>
              <a:t> over </a:t>
            </a:r>
            <a:r>
              <a:rPr lang="fr-FR" dirty="0" err="1"/>
              <a:t>optimistic</a:t>
            </a:r>
            <a:r>
              <a:rPr lang="fr-FR" dirty="0"/>
              <a:t> or </a:t>
            </a:r>
            <a:r>
              <a:rPr lang="fr-FR" dirty="0" err="1"/>
              <a:t>pessimistic</a:t>
            </a:r>
            <a:r>
              <a:rPr lang="fr-FR" dirty="0"/>
              <a:t>?</a:t>
            </a:r>
          </a:p>
          <a:p>
            <a:r>
              <a:rPr lang="fr-FR" dirty="0"/>
              <a:t>3- </a:t>
            </a:r>
            <a:r>
              <a:rPr lang="fr-FR" dirty="0" err="1"/>
              <a:t>is</a:t>
            </a:r>
            <a:r>
              <a:rPr lang="fr-FR" dirty="0"/>
              <a:t> management </a:t>
            </a:r>
            <a:r>
              <a:rPr lang="fr-FR" dirty="0" err="1"/>
              <a:t>forecast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 </a:t>
            </a:r>
            <a:r>
              <a:rPr lang="fr-FR" dirty="0" err="1"/>
              <a:t>than</a:t>
            </a:r>
            <a:r>
              <a:rPr lang="fr-FR" dirty="0"/>
              <a:t> a simple </a:t>
            </a:r>
            <a:r>
              <a:rPr lang="fr-FR" dirty="0" err="1"/>
              <a:t>naive</a:t>
            </a:r>
            <a:r>
              <a:rPr lang="fr-FR" dirty="0"/>
              <a:t> </a:t>
            </a:r>
            <a:r>
              <a:rPr lang="fr-FR" dirty="0" err="1"/>
              <a:t>forecast</a:t>
            </a:r>
            <a:r>
              <a:rPr lang="fr-FR" dirty="0"/>
              <a:t>? </a:t>
            </a:r>
            <a:r>
              <a:rPr lang="fr-FR" dirty="0" err="1"/>
              <a:t>Why</a:t>
            </a:r>
            <a:r>
              <a:rPr lang="fr-FR" dirty="0"/>
              <a:t>?</a:t>
            </a:r>
          </a:p>
          <a:p>
            <a:endParaRPr lang="fr-FR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3536C7A0-B83A-CEB3-033B-3BB258B99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67918"/>
              </p:ext>
            </p:extLst>
          </p:nvPr>
        </p:nvGraphicFramePr>
        <p:xfrm>
          <a:off x="5318760" y="925406"/>
          <a:ext cx="675385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1286">
                  <a:extLst>
                    <a:ext uri="{9D8B030D-6E8A-4147-A177-3AD203B41FA5}">
                      <a16:colId xmlns:a16="http://schemas.microsoft.com/office/drawing/2014/main" val="4009942606"/>
                    </a:ext>
                  </a:extLst>
                </a:gridCol>
                <a:gridCol w="2251286">
                  <a:extLst>
                    <a:ext uri="{9D8B030D-6E8A-4147-A177-3AD203B41FA5}">
                      <a16:colId xmlns:a16="http://schemas.microsoft.com/office/drawing/2014/main" val="2243966621"/>
                    </a:ext>
                  </a:extLst>
                </a:gridCol>
                <a:gridCol w="2251286">
                  <a:extLst>
                    <a:ext uri="{9D8B030D-6E8A-4147-A177-3AD203B41FA5}">
                      <a16:colId xmlns:a16="http://schemas.microsoft.com/office/drawing/2014/main" val="21563377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Month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Unit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Management FORC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31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21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Aug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993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130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Oct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43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Nov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292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Dec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0088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638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Feb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781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293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843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424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4527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801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FC0BF-B1E3-81E0-30B7-DCD2A24E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41CF1-2305-3D2A-D243-5E75FCA1E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Forecasting: Example 3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B0963A79-1E8C-A12E-1F72-280E9C127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124B212-6A3C-4A41-485F-A9D1DDA53E7B}"/>
              </a:ext>
            </a:extLst>
          </p:cNvPr>
          <p:cNvSpPr txBox="1"/>
          <p:nvPr/>
        </p:nvSpPr>
        <p:spPr>
          <a:xfrm>
            <a:off x="152401" y="853440"/>
            <a:ext cx="118030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The </a:t>
            </a:r>
            <a:r>
              <a:rPr lang="fr-FR" dirty="0" err="1"/>
              <a:t>operation</a:t>
            </a:r>
            <a:r>
              <a:rPr lang="fr-FR" dirty="0"/>
              <a:t> manager of a musical instruments </a:t>
            </a:r>
            <a:r>
              <a:rPr lang="fr-FR" dirty="0" err="1"/>
              <a:t>distributor</a:t>
            </a:r>
            <a:r>
              <a:rPr lang="fr-FR" dirty="0"/>
              <a:t> </a:t>
            </a:r>
            <a:r>
              <a:rPr lang="fr-FR" dirty="0" err="1"/>
              <a:t>feel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demand</a:t>
            </a:r>
            <a:r>
              <a:rPr lang="fr-FR" dirty="0"/>
              <a:t> for </a:t>
            </a:r>
            <a:r>
              <a:rPr lang="fr-FR" dirty="0" err="1"/>
              <a:t>bass</a:t>
            </a:r>
            <a:r>
              <a:rPr lang="fr-FR" dirty="0"/>
              <a:t> drums </a:t>
            </a:r>
            <a:r>
              <a:rPr lang="fr-FR" dirty="0" err="1"/>
              <a:t>maybe</a:t>
            </a:r>
            <a:r>
              <a:rPr lang="fr-FR" dirty="0"/>
              <a:t> </a:t>
            </a:r>
            <a:r>
              <a:rPr lang="fr-FR" dirty="0" err="1"/>
              <a:t>related</a:t>
            </a:r>
            <a:r>
              <a:rPr lang="fr-FR" dirty="0"/>
              <a:t> to the </a:t>
            </a:r>
            <a:r>
              <a:rPr lang="fr-FR" dirty="0" err="1"/>
              <a:t>number</a:t>
            </a:r>
            <a:r>
              <a:rPr lang="fr-FR" dirty="0"/>
              <a:t> of TV </a:t>
            </a:r>
            <a:r>
              <a:rPr lang="fr-FR" dirty="0" err="1"/>
              <a:t>appearance</a:t>
            </a:r>
            <a:r>
              <a:rPr lang="fr-FR" dirty="0"/>
              <a:t> by the </a:t>
            </a:r>
            <a:r>
              <a:rPr lang="fr-FR" dirty="0" err="1"/>
              <a:t>popular</a:t>
            </a:r>
            <a:r>
              <a:rPr lang="fr-FR" dirty="0"/>
              <a:t> rock group Kiki </a:t>
            </a:r>
            <a:r>
              <a:rPr lang="fr-FR" dirty="0" err="1"/>
              <a:t>during</a:t>
            </a:r>
            <a:r>
              <a:rPr lang="fr-FR" dirty="0"/>
              <a:t> the </a:t>
            </a:r>
            <a:r>
              <a:rPr lang="fr-FR" dirty="0" err="1"/>
              <a:t>previous</a:t>
            </a:r>
            <a:r>
              <a:rPr lang="fr-FR" dirty="0"/>
              <a:t> </a:t>
            </a:r>
            <a:r>
              <a:rPr lang="fr-FR" dirty="0" err="1"/>
              <a:t>month</a:t>
            </a:r>
            <a:r>
              <a:rPr lang="fr-FR" dirty="0"/>
              <a:t>. He has </a:t>
            </a:r>
            <a:r>
              <a:rPr lang="fr-FR" dirty="0" err="1"/>
              <a:t>collected</a:t>
            </a:r>
            <a:r>
              <a:rPr lang="fr-FR" dirty="0"/>
              <a:t> </a:t>
            </a:r>
            <a:r>
              <a:rPr lang="fr-FR" dirty="0" err="1"/>
              <a:t>below</a:t>
            </a:r>
            <a:r>
              <a:rPr lang="fr-FR" dirty="0"/>
              <a:t> data:</a:t>
            </a:r>
          </a:p>
          <a:p>
            <a:endParaRPr lang="fr-FR" dirty="0"/>
          </a:p>
          <a:p>
            <a:r>
              <a:rPr lang="fr-FR" dirty="0"/>
              <a:t>1- Graph the data and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whether</a:t>
            </a:r>
            <a:r>
              <a:rPr lang="fr-FR" dirty="0"/>
              <a:t> a </a:t>
            </a:r>
            <a:r>
              <a:rPr lang="fr-FR" dirty="0" err="1"/>
              <a:t>linear</a:t>
            </a:r>
            <a:r>
              <a:rPr lang="fr-FR" dirty="0"/>
              <a:t> </a:t>
            </a:r>
            <a:r>
              <a:rPr lang="fr-FR" dirty="0" err="1"/>
              <a:t>equation</a:t>
            </a:r>
            <a:r>
              <a:rPr lang="fr-FR" dirty="0"/>
              <a:t>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describe</a:t>
            </a:r>
            <a:r>
              <a:rPr lang="fr-FR" dirty="0"/>
              <a:t> the </a:t>
            </a:r>
            <a:r>
              <a:rPr lang="fr-FR" dirty="0" err="1"/>
              <a:t>relationship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bass</a:t>
            </a:r>
            <a:r>
              <a:rPr lang="fr-FR" dirty="0"/>
              <a:t> drums sale and TC </a:t>
            </a:r>
            <a:r>
              <a:rPr lang="fr-FR" dirty="0" err="1"/>
              <a:t>appearances</a:t>
            </a:r>
            <a:r>
              <a:rPr lang="fr-FR" dirty="0"/>
              <a:t> of Kiki</a:t>
            </a:r>
          </a:p>
          <a:p>
            <a:r>
              <a:rPr lang="fr-FR" dirty="0"/>
              <a:t>2- </a:t>
            </a:r>
            <a:r>
              <a:rPr lang="fr-FR" dirty="0" err="1"/>
              <a:t>Using</a:t>
            </a:r>
            <a:r>
              <a:rPr lang="fr-FR" dirty="0"/>
              <a:t> the least square </a:t>
            </a:r>
            <a:r>
              <a:rPr lang="fr-FR" dirty="0" err="1"/>
              <a:t>method</a:t>
            </a:r>
            <a:r>
              <a:rPr lang="fr-FR" dirty="0"/>
              <a:t> </a:t>
            </a:r>
            <a:r>
              <a:rPr lang="fr-FR" dirty="0" err="1"/>
              <a:t>derive</a:t>
            </a:r>
            <a:r>
              <a:rPr lang="fr-FR" dirty="0"/>
              <a:t> a </a:t>
            </a:r>
            <a:r>
              <a:rPr lang="fr-FR" dirty="0" err="1"/>
              <a:t>forecasting</a:t>
            </a:r>
            <a:r>
              <a:rPr lang="fr-FR" dirty="0"/>
              <a:t> </a:t>
            </a:r>
            <a:r>
              <a:rPr lang="fr-FR" dirty="0" err="1"/>
              <a:t>equation</a:t>
            </a:r>
            <a:r>
              <a:rPr lang="fr-FR" dirty="0"/>
              <a:t> MANUALLY</a:t>
            </a:r>
          </a:p>
          <a:p>
            <a:r>
              <a:rPr lang="fr-FR" dirty="0"/>
              <a:t>3- </a:t>
            </a:r>
            <a:r>
              <a:rPr lang="fr-FR" dirty="0" err="1"/>
              <a:t>Calculate</a:t>
            </a:r>
            <a:r>
              <a:rPr lang="fr-FR" dirty="0"/>
              <a:t> the coefficient of </a:t>
            </a:r>
            <a:r>
              <a:rPr lang="fr-FR" dirty="0" err="1"/>
              <a:t>correlation</a:t>
            </a:r>
            <a:r>
              <a:rPr lang="fr-FR" dirty="0"/>
              <a:t>. </a:t>
            </a:r>
            <a:r>
              <a:rPr lang="fr-FR" dirty="0" err="1"/>
              <a:t>What</a:t>
            </a:r>
            <a:r>
              <a:rPr lang="fr-FR" dirty="0"/>
              <a:t> 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conclude</a:t>
            </a:r>
            <a:r>
              <a:rPr lang="fr-FR" dirty="0"/>
              <a:t>?</a:t>
            </a:r>
          </a:p>
          <a:p>
            <a:r>
              <a:rPr lang="fr-FR" dirty="0"/>
              <a:t>4-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estimate</a:t>
            </a:r>
            <a:r>
              <a:rPr lang="fr-FR" dirty="0"/>
              <a:t> of </a:t>
            </a:r>
            <a:r>
              <a:rPr lang="fr-FR" dirty="0" err="1"/>
              <a:t>bass</a:t>
            </a:r>
            <a:r>
              <a:rPr lang="fr-FR" dirty="0"/>
              <a:t> drums sales if Kiki </a:t>
            </a:r>
            <a:r>
              <a:rPr lang="fr-FR" dirty="0" err="1"/>
              <a:t>performed</a:t>
            </a:r>
            <a:r>
              <a:rPr lang="fr-FR" dirty="0"/>
              <a:t> 9 times on TV last </a:t>
            </a:r>
            <a:r>
              <a:rPr lang="fr-FR" dirty="0" err="1"/>
              <a:t>month</a:t>
            </a:r>
            <a:r>
              <a:rPr lang="fr-FR" dirty="0"/>
              <a:t>?</a:t>
            </a:r>
          </a:p>
          <a:p>
            <a:r>
              <a:rPr lang="fr-FR" dirty="0"/>
              <a:t>5-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standard </a:t>
            </a:r>
            <a:r>
              <a:rPr lang="fr-FR" dirty="0" err="1"/>
              <a:t>deviation</a:t>
            </a:r>
            <a:r>
              <a:rPr lang="fr-FR" dirty="0"/>
              <a:t>? How do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interpret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?</a:t>
            </a:r>
          </a:p>
          <a:p>
            <a:endParaRPr lang="fr-FR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F133965-B644-CC50-A6B3-39B2C26BF3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016532"/>
              </p:ext>
            </p:extLst>
          </p:nvPr>
        </p:nvGraphicFramePr>
        <p:xfrm>
          <a:off x="307075" y="3954185"/>
          <a:ext cx="910912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247">
                  <a:extLst>
                    <a:ext uri="{9D8B030D-6E8A-4147-A177-3AD203B41FA5}">
                      <a16:colId xmlns:a16="http://schemas.microsoft.com/office/drawing/2014/main" val="2755170615"/>
                    </a:ext>
                  </a:extLst>
                </a:gridCol>
                <a:gridCol w="1217359">
                  <a:extLst>
                    <a:ext uri="{9D8B030D-6E8A-4147-A177-3AD203B41FA5}">
                      <a16:colId xmlns:a16="http://schemas.microsoft.com/office/drawing/2014/main" val="3324890378"/>
                    </a:ext>
                  </a:extLst>
                </a:gridCol>
                <a:gridCol w="1301303">
                  <a:extLst>
                    <a:ext uri="{9D8B030D-6E8A-4147-A177-3AD203B41FA5}">
                      <a16:colId xmlns:a16="http://schemas.microsoft.com/office/drawing/2014/main" val="2487709203"/>
                    </a:ext>
                  </a:extLst>
                </a:gridCol>
                <a:gridCol w="1301303">
                  <a:extLst>
                    <a:ext uri="{9D8B030D-6E8A-4147-A177-3AD203B41FA5}">
                      <a16:colId xmlns:a16="http://schemas.microsoft.com/office/drawing/2014/main" val="4257757384"/>
                    </a:ext>
                  </a:extLst>
                </a:gridCol>
                <a:gridCol w="1301303">
                  <a:extLst>
                    <a:ext uri="{9D8B030D-6E8A-4147-A177-3AD203B41FA5}">
                      <a16:colId xmlns:a16="http://schemas.microsoft.com/office/drawing/2014/main" val="1556858872"/>
                    </a:ext>
                  </a:extLst>
                </a:gridCol>
                <a:gridCol w="1301303">
                  <a:extLst>
                    <a:ext uri="{9D8B030D-6E8A-4147-A177-3AD203B41FA5}">
                      <a16:colId xmlns:a16="http://schemas.microsoft.com/office/drawing/2014/main" val="3799689297"/>
                    </a:ext>
                  </a:extLst>
                </a:gridCol>
                <a:gridCol w="1301303">
                  <a:extLst>
                    <a:ext uri="{9D8B030D-6E8A-4147-A177-3AD203B41FA5}">
                      <a16:colId xmlns:a16="http://schemas.microsoft.com/office/drawing/2014/main" val="2794885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Demand</a:t>
                      </a:r>
                      <a:r>
                        <a:rPr lang="fr-FR" dirty="0"/>
                        <a:t> Bass drums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166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Kiki TV </a:t>
                      </a:r>
                      <a:r>
                        <a:rPr lang="fr-FR" dirty="0" err="1"/>
                        <a:t>appearance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371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95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628B2-1371-065D-4E09-AE21D0E1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3C8DB-9A5E-619E-954C-1107DEB7A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Aggregate planning: Example 4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0943B4C0-659D-AC6A-2D00-1F532FFAE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939FAC3-0ADC-8229-7BA5-18F5164E5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55" y="1007745"/>
            <a:ext cx="10771200" cy="673100"/>
          </a:xfrm>
          <a:prstGeom prst="rect">
            <a:avLst/>
          </a:prstGeom>
          <a:solidFill>
            <a:srgbClr val="FF9900"/>
          </a:solidFill>
          <a:ln w="12699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2767" tIns="61384" rIns="122767" bIns="61384" anchor="ctr"/>
          <a:lstStyle/>
          <a:p>
            <a:pPr algn="ctr" defTabSz="1015975" fontAlgn="auto">
              <a:spcBef>
                <a:spcPts val="0"/>
              </a:spcBef>
              <a:spcAft>
                <a:spcPts val="0"/>
              </a:spcAft>
            </a:pPr>
            <a:r>
              <a:rPr lang="fr-FR" sz="2133" b="1" dirty="0">
                <a:solidFill>
                  <a:prstClr val="white"/>
                </a:solidFill>
                <a:latin typeface="Calibri"/>
                <a:ea typeface="Roboto Condensed" pitchFamily="2" charset="0"/>
              </a:rPr>
              <a:t>12 months demand forecast in thousands units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FA4461-6CC9-48AC-F1C6-EC2D57016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55" y="2419770"/>
            <a:ext cx="10771200" cy="309563"/>
          </a:xfrm>
          <a:prstGeom prst="rect">
            <a:avLst/>
          </a:prstGeom>
          <a:solidFill>
            <a:schemeClr val="bg1"/>
          </a:solidFill>
          <a:ln w="12699">
            <a:solidFill>
              <a:srgbClr val="FF99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2767" tIns="61384" rIns="122767" bIns="61384" anchor="ctr"/>
          <a:lstStyle/>
          <a:p>
            <a:pPr defTabSz="1015975" fontAlgn="auto">
              <a:spcBef>
                <a:spcPts val="0"/>
              </a:spcBef>
              <a:spcAft>
                <a:spcPts val="0"/>
              </a:spcAft>
            </a:pPr>
            <a:r>
              <a:rPr lang="fr-FR" sz="2400">
                <a:solidFill>
                  <a:prstClr val="black"/>
                </a:solidFill>
                <a:latin typeface="Roboto Condensed" pitchFamily="2" charset="0"/>
                <a:ea typeface="Roboto Condensed" pitchFamily="2" charset="0"/>
              </a:rPr>
              <a:t>TOTAL : 246</a:t>
            </a:r>
          </a:p>
        </p:txBody>
      </p:sp>
      <p:graphicFrame>
        <p:nvGraphicFramePr>
          <p:cNvPr id="8" name="Tableau 2">
            <a:extLst>
              <a:ext uri="{FF2B5EF4-FFF2-40B4-BE49-F238E27FC236}">
                <a16:creationId xmlns:a16="http://schemas.microsoft.com/office/drawing/2014/main" id="{B241E400-119B-080C-ACCE-D826FD25E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937857"/>
              </p:ext>
            </p:extLst>
          </p:nvPr>
        </p:nvGraphicFramePr>
        <p:xfrm>
          <a:off x="593056" y="1680844"/>
          <a:ext cx="1075680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2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3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4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5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6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7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8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9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10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11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12</a:t>
                      </a:r>
                    </a:p>
                  </a:txBody>
                  <a:tcPr marL="121920" marR="121920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16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14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12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10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15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22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25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25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30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30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25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22</a:t>
                      </a:r>
                    </a:p>
                  </a:txBody>
                  <a:tcPr marL="121920" marR="121920" anchor="ctr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Graphique 4">
            <a:extLst>
              <a:ext uri="{FF2B5EF4-FFF2-40B4-BE49-F238E27FC236}">
                <a16:creationId xmlns:a16="http://schemas.microsoft.com/office/drawing/2014/main" id="{4BD7FA25-10BB-7E52-B442-8EB496B9D6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0266678"/>
              </p:ext>
            </p:extLst>
          </p:nvPr>
        </p:nvGraphicFramePr>
        <p:xfrm>
          <a:off x="601057" y="2807299"/>
          <a:ext cx="10588772" cy="35982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0" name="Groupe 5">
            <a:extLst>
              <a:ext uri="{FF2B5EF4-FFF2-40B4-BE49-F238E27FC236}">
                <a16:creationId xmlns:a16="http://schemas.microsoft.com/office/drawing/2014/main" id="{8A6EEC68-F31F-EED1-9C74-30E785B71B53}"/>
              </a:ext>
            </a:extLst>
          </p:cNvPr>
          <p:cNvGrpSpPr/>
          <p:nvPr/>
        </p:nvGrpSpPr>
        <p:grpSpPr>
          <a:xfrm>
            <a:off x="585857" y="3960075"/>
            <a:ext cx="10949223" cy="452198"/>
            <a:chOff x="536547" y="3861048"/>
            <a:chExt cx="8211917" cy="452198"/>
          </a:xfrm>
        </p:grpSpPr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11CF321E-AC68-0CFB-03B2-696C08CE9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648" y="3861048"/>
              <a:ext cx="1296144" cy="4521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22767" tIns="61384" rIns="122767" bIns="61384">
              <a:spAutoFit/>
            </a:bodyPr>
            <a:lstStyle/>
            <a:p>
              <a:pPr defTabSz="1015975" fontAlgn="auto">
                <a:spcBef>
                  <a:spcPts val="0"/>
                </a:spcBef>
                <a:spcAft>
                  <a:spcPts val="0"/>
                </a:spcAft>
              </a:pPr>
              <a:r>
                <a:rPr lang="fr-FR" sz="2133" dirty="0">
                  <a:solidFill>
                    <a:srgbClr val="FF6600"/>
                  </a:solidFill>
                  <a:latin typeface="Roboto Condensed" pitchFamily="2" charset="0"/>
                  <a:ea typeface="Roboto Condensed" pitchFamily="2" charset="0"/>
                </a:rPr>
                <a:t>Capacity : 18</a:t>
              </a:r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99D6459B-0C02-AE99-CFCD-3504445FBD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547" y="4293096"/>
              <a:ext cx="8211917" cy="0"/>
            </a:xfrm>
            <a:prstGeom prst="line">
              <a:avLst/>
            </a:prstGeom>
            <a:noFill/>
            <a:ln w="50799">
              <a:solidFill>
                <a:srgbClr val="FF99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A50021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17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fr-FR" sz="2400">
                <a:solidFill>
                  <a:prstClr val="black"/>
                </a:solidFill>
                <a:latin typeface="Roboto Condensed" pitchFamily="2" charset="0"/>
                <a:ea typeface="Roboto Condensed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4980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Graphic spid="9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8BB84-65EE-7E7F-32FA-9890C48FA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71F1CF-6DB7-4CD7-3AEA-400DB992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Aggregate planning: Example 4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DA9EA482-5515-2140-BDC7-63575B2D7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grpSp>
        <p:nvGrpSpPr>
          <p:cNvPr id="4" name="Groupe 16">
            <a:extLst>
              <a:ext uri="{FF2B5EF4-FFF2-40B4-BE49-F238E27FC236}">
                <a16:creationId xmlns:a16="http://schemas.microsoft.com/office/drawing/2014/main" id="{AEC53CD6-F1F9-188F-4053-02CC558681B1}"/>
              </a:ext>
            </a:extLst>
          </p:cNvPr>
          <p:cNvGrpSpPr/>
          <p:nvPr/>
        </p:nvGrpSpPr>
        <p:grpSpPr>
          <a:xfrm>
            <a:off x="183348" y="1030088"/>
            <a:ext cx="11052051" cy="1524000"/>
            <a:chOff x="478547" y="955502"/>
            <a:chExt cx="8289035" cy="114300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10AD9B2E-0194-98F0-0645-C84C8CCAB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5707" y="955502"/>
              <a:ext cx="7381875" cy="1143000"/>
              <a:chOff x="1128" y="480"/>
              <a:chExt cx="5232" cy="960"/>
            </a:xfrm>
            <a:solidFill>
              <a:srgbClr val="92D050"/>
            </a:solidFill>
            <a:effectLst/>
          </p:grpSpPr>
          <p:sp>
            <p:nvSpPr>
              <p:cNvPr id="7" name="Rectangle 4">
                <a:extLst>
                  <a:ext uri="{FF2B5EF4-FFF2-40B4-BE49-F238E27FC236}">
                    <a16:creationId xmlns:a16="http://schemas.microsoft.com/office/drawing/2014/main" id="{BB557442-4F4E-70AF-7750-1BAD4E527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480"/>
                <a:ext cx="1680" cy="43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Storage cost</a:t>
                </a:r>
              </a:p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2 SGD/ piece/month</a:t>
                </a:r>
              </a:p>
            </p:txBody>
          </p:sp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78FDEA88-16CC-D31D-DA3E-EFA879989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1008"/>
                <a:ext cx="1680" cy="43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Manpower cost</a:t>
                </a:r>
              </a:p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1000 SGD / month</a:t>
                </a: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4D1DA454-DA78-F93F-91D2-0A3A8AE82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4" y="480"/>
                <a:ext cx="1680" cy="43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Overtime cost (OT)</a:t>
                </a:r>
              </a:p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1,5 manpower cost</a:t>
                </a:r>
              </a:p>
            </p:txBody>
          </p:sp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F3EC9678-1141-D2E5-59CC-0EC9A2BBD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0" y="480"/>
                <a:ext cx="1680" cy="43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Hiring cost</a:t>
                </a:r>
              </a:p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600SGD</a:t>
                </a: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50935E4F-A51A-902D-2F1C-E1A40299A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0" y="1008"/>
                <a:ext cx="1680" cy="43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Firing cost</a:t>
                </a:r>
              </a:p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600 SGD</a:t>
                </a:r>
              </a:p>
            </p:txBody>
          </p:sp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F9448B45-BF73-B147-BE35-07BD1D54C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4" y="1008"/>
                <a:ext cx="1680" cy="43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Max OT: </a:t>
                </a:r>
              </a:p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006600"/>
                    </a:solidFill>
                    <a:latin typeface="Calibri"/>
                    <a:ea typeface="Roboto Condensed" pitchFamily="2" charset="0"/>
                  </a:rPr>
                  <a:t>&lt; 50%</a:t>
                </a:r>
              </a:p>
            </p:txBody>
          </p:sp>
        </p:grpSp>
        <p:pic>
          <p:nvPicPr>
            <p:cNvPr id="6" name="Image 2">
              <a:extLst>
                <a:ext uri="{FF2B5EF4-FFF2-40B4-BE49-F238E27FC236}">
                  <a16:creationId xmlns:a16="http://schemas.microsoft.com/office/drawing/2014/main" id="{6522C194-4B1E-BD82-3413-963894FCB93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04" r="16909" b="13186"/>
            <a:stretch/>
          </p:blipFill>
          <p:spPr>
            <a:xfrm rot="20013995">
              <a:off x="478547" y="1074422"/>
              <a:ext cx="702595" cy="905160"/>
            </a:xfrm>
            <a:prstGeom prst="rect">
              <a:avLst/>
            </a:prstGeom>
          </p:spPr>
        </p:pic>
      </p:grpSp>
      <p:grpSp>
        <p:nvGrpSpPr>
          <p:cNvPr id="13" name="Groupe 14">
            <a:extLst>
              <a:ext uri="{FF2B5EF4-FFF2-40B4-BE49-F238E27FC236}">
                <a16:creationId xmlns:a16="http://schemas.microsoft.com/office/drawing/2014/main" id="{CAA19A7C-8C68-5B7B-D545-D006666359B3}"/>
              </a:ext>
            </a:extLst>
          </p:cNvPr>
          <p:cNvGrpSpPr/>
          <p:nvPr/>
        </p:nvGrpSpPr>
        <p:grpSpPr>
          <a:xfrm>
            <a:off x="719011" y="2736455"/>
            <a:ext cx="9842500" cy="1407460"/>
            <a:chOff x="880290" y="2067680"/>
            <a:chExt cx="7381875" cy="1055595"/>
          </a:xfrm>
        </p:grpSpPr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487357D2-887C-472B-761F-CF5D9E8D0F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80290" y="2338302"/>
              <a:ext cx="7381875" cy="514350"/>
              <a:chOff x="1128" y="1776"/>
              <a:chExt cx="5232" cy="432"/>
            </a:xfrm>
            <a:solidFill>
              <a:srgbClr val="FFC000"/>
            </a:solidFill>
          </p:grpSpPr>
          <p:sp>
            <p:nvSpPr>
              <p:cNvPr id="16" name="Rectangle 13">
                <a:extLst>
                  <a:ext uri="{FF2B5EF4-FFF2-40B4-BE49-F238E27FC236}">
                    <a16:creationId xmlns:a16="http://schemas.microsoft.com/office/drawing/2014/main" id="{DC00D765-95CB-4B17-6B9E-8D7E8A0FD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8" y="1776"/>
                <a:ext cx="1680" cy="43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990000"/>
                    </a:solidFill>
                    <a:latin typeface="Calibri"/>
                    <a:ea typeface="Roboto Condensed" pitchFamily="2" charset="0"/>
                  </a:rPr>
                  <a:t>Beginning on hand FG Stock : 2 000 pieces</a:t>
                </a:r>
              </a:p>
            </p:txBody>
          </p:sp>
          <p:sp>
            <p:nvSpPr>
              <p:cNvPr id="17" name="Rectangle 14">
                <a:extLst>
                  <a:ext uri="{FF2B5EF4-FFF2-40B4-BE49-F238E27FC236}">
                    <a16:creationId xmlns:a16="http://schemas.microsoft.com/office/drawing/2014/main" id="{9A357665-FEF6-5A94-3760-868DEC0BB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0" y="1776"/>
                <a:ext cx="1680" cy="43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990000"/>
                    </a:solidFill>
                    <a:latin typeface="Calibri"/>
                    <a:ea typeface="Roboto Condensed" pitchFamily="2" charset="0"/>
                  </a:rPr>
                  <a:t>Safety stock :</a:t>
                </a:r>
              </a:p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2133" dirty="0">
                    <a:solidFill>
                      <a:srgbClr val="990000"/>
                    </a:solidFill>
                    <a:latin typeface="Calibri"/>
                    <a:ea typeface="Roboto Condensed" pitchFamily="2" charset="0"/>
                  </a:rPr>
                  <a:t>2 000 pieces</a:t>
                </a:r>
              </a:p>
            </p:txBody>
          </p:sp>
        </p:grpSp>
        <p:pic>
          <p:nvPicPr>
            <p:cNvPr id="15" name="Image 3">
              <a:extLst>
                <a:ext uri="{FF2B5EF4-FFF2-40B4-BE49-F238E27FC236}">
                  <a16:creationId xmlns:a16="http://schemas.microsoft.com/office/drawing/2014/main" id="{86674939-9027-A656-8917-4340C60521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0" t="13983" r="10498" b="29477"/>
            <a:stretch/>
          </p:blipFill>
          <p:spPr>
            <a:xfrm>
              <a:off x="3829539" y="2067680"/>
              <a:ext cx="1483360" cy="1055595"/>
            </a:xfrm>
            <a:prstGeom prst="rect">
              <a:avLst/>
            </a:prstGeom>
          </p:spPr>
        </p:pic>
      </p:grpSp>
      <p:grpSp>
        <p:nvGrpSpPr>
          <p:cNvPr id="18" name="Groupe 15">
            <a:extLst>
              <a:ext uri="{FF2B5EF4-FFF2-40B4-BE49-F238E27FC236}">
                <a16:creationId xmlns:a16="http://schemas.microsoft.com/office/drawing/2014/main" id="{CF7AA8C4-9F25-F609-080F-96DA6B5D355A}"/>
              </a:ext>
            </a:extLst>
          </p:cNvPr>
          <p:cNvGrpSpPr/>
          <p:nvPr/>
        </p:nvGrpSpPr>
        <p:grpSpPr>
          <a:xfrm>
            <a:off x="1069674" y="4326282"/>
            <a:ext cx="8140421" cy="2027243"/>
            <a:chOff x="1143287" y="3427648"/>
            <a:chExt cx="6105316" cy="1520432"/>
          </a:xfrm>
        </p:grpSpPr>
        <p:sp>
          <p:nvSpPr>
            <p:cNvPr id="19" name="Rectangle 16">
              <a:extLst>
                <a:ext uri="{FF2B5EF4-FFF2-40B4-BE49-F238E27FC236}">
                  <a16:creationId xmlns:a16="http://schemas.microsoft.com/office/drawing/2014/main" id="{E89B88FE-67DB-F1B0-E19E-3AFDE7C1D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287" y="3930689"/>
              <a:ext cx="2370138" cy="514351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122767" tIns="61384" rIns="122767" bIns="61384" anchor="ctr"/>
            <a:lstStyle/>
            <a:p>
              <a:pPr algn="ctr" defTabSz="1015975" fontAlgn="auto">
                <a:spcBef>
                  <a:spcPts val="0"/>
                </a:spcBef>
                <a:spcAft>
                  <a:spcPts val="0"/>
                </a:spcAft>
              </a:pPr>
              <a:r>
                <a:rPr lang="fr-FR" sz="2133" dirty="0">
                  <a:solidFill>
                    <a:prstClr val="white"/>
                  </a:solidFill>
                  <a:latin typeface="Calibri"/>
                  <a:ea typeface="Roboto Condensed" pitchFamily="2" charset="0"/>
                </a:rPr>
                <a:t>Workforce : 180 people</a:t>
              </a:r>
            </a:p>
          </p:txBody>
        </p:sp>
        <p:grpSp>
          <p:nvGrpSpPr>
            <p:cNvPr id="20" name="Groupe 12">
              <a:extLst>
                <a:ext uri="{FF2B5EF4-FFF2-40B4-BE49-F238E27FC236}">
                  <a16:creationId xmlns:a16="http://schemas.microsoft.com/office/drawing/2014/main" id="{46CD65D1-A474-13DF-BEED-8F9706A60878}"/>
                </a:ext>
              </a:extLst>
            </p:cNvPr>
            <p:cNvGrpSpPr/>
            <p:nvPr/>
          </p:nvGrpSpPr>
          <p:grpSpPr>
            <a:xfrm>
              <a:off x="5629013" y="3427648"/>
              <a:ext cx="1619590" cy="1520432"/>
              <a:chOff x="5629013" y="2941550"/>
              <a:chExt cx="1619590" cy="1520432"/>
            </a:xfrm>
          </p:grpSpPr>
          <p:sp>
            <p:nvSpPr>
              <p:cNvPr id="22" name="Rectangle 19">
                <a:extLst>
                  <a:ext uri="{FF2B5EF4-FFF2-40B4-BE49-F238E27FC236}">
                    <a16:creationId xmlns:a16="http://schemas.microsoft.com/office/drawing/2014/main" id="{449B6572-8779-D0D9-1DA6-074225A7C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9013" y="2941550"/>
                <a:ext cx="1619590" cy="72033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1867" dirty="0">
                    <a:solidFill>
                      <a:prstClr val="white"/>
                    </a:solidFill>
                    <a:latin typeface="Calibri"/>
                    <a:ea typeface="Roboto Condensed" pitchFamily="2" charset="0"/>
                  </a:rPr>
                  <a:t>Production rate: 100 pieces / month /employee</a:t>
                </a:r>
              </a:p>
            </p:txBody>
          </p:sp>
          <p:sp>
            <p:nvSpPr>
              <p:cNvPr id="23" name="Rectangle 20">
                <a:extLst>
                  <a:ext uri="{FF2B5EF4-FFF2-40B4-BE49-F238E27FC236}">
                    <a16:creationId xmlns:a16="http://schemas.microsoft.com/office/drawing/2014/main" id="{E586A5B8-5ACB-D1BF-11D8-DB1FFFCAFE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9013" y="3741652"/>
                <a:ext cx="1619590" cy="720330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22767" tIns="61384" rIns="122767" bIns="61384" anchor="ctr"/>
              <a:lstStyle/>
              <a:p>
                <a:pPr algn="ctr" defTabSz="1015975" fontAlgn="auto">
                  <a:spcBef>
                    <a:spcPts val="0"/>
                  </a:spcBef>
                  <a:spcAft>
                    <a:spcPts val="0"/>
                  </a:spcAft>
                </a:pPr>
                <a:r>
                  <a:rPr lang="fr-FR" sz="1867" dirty="0">
                    <a:solidFill>
                      <a:prstClr val="white"/>
                    </a:solidFill>
                    <a:latin typeface="Calibri"/>
                    <a:ea typeface="Roboto Condensed" pitchFamily="2" charset="0"/>
                  </a:rPr>
                  <a:t>Capacity: limited by workforce</a:t>
                </a:r>
              </a:p>
            </p:txBody>
          </p:sp>
        </p:grpSp>
        <p:pic>
          <p:nvPicPr>
            <p:cNvPr id="21" name="Image 8">
              <a:extLst>
                <a:ext uri="{FF2B5EF4-FFF2-40B4-BE49-F238E27FC236}">
                  <a16:creationId xmlns:a16="http://schemas.microsoft.com/office/drawing/2014/main" id="{5593FC1B-D2F7-23E7-EEB5-F56668C2C2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46" t="16545" r="13131" b="29510"/>
            <a:stretch/>
          </p:blipFill>
          <p:spPr>
            <a:xfrm>
              <a:off x="3779407" y="3612388"/>
              <a:ext cx="1583625" cy="11509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5459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14625-F7C9-12C2-66A0-E33974D81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2EE279-7894-72C9-85A4-AC376B0E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Aggregate planning: Example 4: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E69CA59C-2CCE-F260-5553-7FFDCCE8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2AECBA-FA31-B07D-18C0-80B38C54717A}"/>
              </a:ext>
            </a:extLst>
          </p:cNvPr>
          <p:cNvSpPr txBox="1"/>
          <p:nvPr/>
        </p:nvSpPr>
        <p:spPr>
          <a:xfrm>
            <a:off x="327660" y="1562100"/>
            <a:ext cx="111556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Build an xls spreadsheet to create your proposal (plan and cost), similar to provided example</a:t>
            </a:r>
          </a:p>
          <a:p>
            <a:r>
              <a:rPr lang="fr-FR" dirty="0"/>
              <a:t>Capacity can be increased or reduced by hiring (or OT) or firing people</a:t>
            </a:r>
          </a:p>
          <a:p>
            <a:r>
              <a:rPr lang="fr-FR" dirty="0"/>
              <a:t>Assess 3 scenarios:</a:t>
            </a:r>
          </a:p>
          <a:p>
            <a:pPr marL="285750" indent="-285750">
              <a:buFontTx/>
              <a:buChar char="-"/>
            </a:pPr>
            <a:r>
              <a:rPr lang="fr-FR" dirty="0"/>
              <a:t>Level production and hiring people</a:t>
            </a:r>
          </a:p>
          <a:p>
            <a:pPr marL="285750" indent="-285750">
              <a:buFontTx/>
              <a:buChar char="-"/>
            </a:pPr>
            <a:r>
              <a:rPr lang="fr-FR" dirty="0"/>
              <a:t>Level production and OT</a:t>
            </a:r>
          </a:p>
          <a:p>
            <a:pPr marL="285750" indent="-285750">
              <a:buFontTx/>
              <a:buChar char="-"/>
            </a:pPr>
            <a:r>
              <a:rPr lang="fr-FR" dirty="0"/>
              <a:t>Chase production</a:t>
            </a:r>
          </a:p>
          <a:p>
            <a:r>
              <a:rPr lang="en-GB" dirty="0"/>
              <a:t>Compare the 3 scenarios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5093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6EC66-269C-D13A-C65D-381FBF2FE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D8861C-C3A8-9E0C-4ADA-F81460F1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887" y="-210301"/>
            <a:ext cx="10515600" cy="1325563"/>
          </a:xfrm>
        </p:spPr>
        <p:txBody>
          <a:bodyPr/>
          <a:lstStyle/>
          <a:p>
            <a:pPr algn="l" rtl="0"/>
            <a:r>
              <a:rPr lang="en" dirty="0"/>
              <a:t>Aggregate planning: Example 4</a:t>
            </a:r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21C6DBBE-0ABC-29CF-090C-476080AD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0" y="6353525"/>
            <a:ext cx="8727790" cy="365125"/>
          </a:xfrm>
        </p:spPr>
        <p:txBody>
          <a:bodyPr/>
          <a:lstStyle/>
          <a:p>
            <a:r>
              <a:rPr lang="en"/>
              <a:t>R Desmicht – SUTD ESD MSO ©For limited distribution to SUTD-MSO students. All other rights reserved.</a:t>
            </a:r>
            <a:endParaRPr lang="fr-FR"/>
          </a:p>
        </p:txBody>
      </p:sp>
      <p:graphicFrame>
        <p:nvGraphicFramePr>
          <p:cNvPr id="4" name="Group 382">
            <a:extLst>
              <a:ext uri="{FF2B5EF4-FFF2-40B4-BE49-F238E27FC236}">
                <a16:creationId xmlns:a16="http://schemas.microsoft.com/office/drawing/2014/main" id="{F29EC6CB-7131-E041-62D7-C91F95E4F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3081795"/>
              </p:ext>
            </p:extLst>
          </p:nvPr>
        </p:nvGraphicFramePr>
        <p:xfrm>
          <a:off x="149291" y="452480"/>
          <a:ext cx="11893418" cy="6094553"/>
        </p:xfrm>
        <a:graphic>
          <a:graphicData uri="http://schemas.openxmlformats.org/drawingml/2006/table">
            <a:tbl>
              <a:tblPr/>
              <a:tblGrid>
                <a:gridCol w="1167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176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138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619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9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2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3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4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5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6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7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8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9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10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11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12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Total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Demand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16 000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14 000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12 000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10 000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15 000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22 000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25 000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25 000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30 000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30 000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25 000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22 000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246 000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Plan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14000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14000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12000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246 000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93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Inventory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93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Capacity plan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93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Needed capacity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14000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14000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12000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93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Workcorce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180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140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120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Hiring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Firing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40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</a:rPr>
                        <a:t>20</a:t>
                      </a: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OT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93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Max OT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939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Cost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 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Storage cost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Salaries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Hiring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Firing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OT cost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Roboto Condensed" pitchFamily="2" charset="0"/>
                          <a:cs typeface="Arial" charset="0"/>
                        </a:rPr>
                        <a:t>Total</a:t>
                      </a: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fr-F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Roboto Condensed" pitchFamily="2" charset="0"/>
                      </a:endParaRPr>
                    </a:p>
                  </a:txBody>
                  <a:tcPr marL="97003" marR="97003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5B92A9B-0372-3ED6-D685-BA75BB6A7836}"/>
              </a:ext>
            </a:extLst>
          </p:cNvPr>
          <p:cNvSpPr/>
          <p:nvPr/>
        </p:nvSpPr>
        <p:spPr>
          <a:xfrm>
            <a:off x="4684397" y="2967335"/>
            <a:ext cx="28232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Mock-up</a:t>
            </a:r>
          </a:p>
        </p:txBody>
      </p:sp>
    </p:spTree>
    <p:extLst>
      <p:ext uri="{BB962C8B-B14F-4D97-AF65-F5344CB8AC3E}">
        <p14:creationId xmlns:p14="http://schemas.microsoft.com/office/powerpoint/2010/main" val="3660385000"/>
      </p:ext>
    </p:extLst>
  </p:cSld>
  <p:clrMapOvr>
    <a:masterClrMapping/>
  </p:clrMapOvr>
</p:sld>
</file>

<file path=ppt/theme/theme1.xml><?xml version="1.0" encoding="utf-8"?>
<a:theme xmlns:a="http://schemas.openxmlformats.org/drawingml/2006/main" name="Roxan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880307FB5214CAF087AE3F5FCCCAF" ma:contentTypeVersion="2" ma:contentTypeDescription="Create a new document." ma:contentTypeScope="" ma:versionID="c1cc50baf9e20d2f90b46641dd84d222">
  <xsd:schema xmlns:xsd="http://www.w3.org/2001/XMLSchema" xmlns:xs="http://www.w3.org/2001/XMLSchema" xmlns:p="http://schemas.microsoft.com/office/2006/metadata/properties" xmlns:ns2="3d4f26da-c66a-415e-afb3-c3e30de15fc9" targetNamespace="http://schemas.microsoft.com/office/2006/metadata/properties" ma:root="true" ma:fieldsID="cb6eac8164304a1323c237f2b981dc6b" ns2:_="">
    <xsd:import namespace="3d4f26da-c66a-415e-afb3-c3e30de15fc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4f26da-c66a-415e-afb3-c3e30de15fc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d4f26da-c66a-415e-afb3-c3e30de15fc9">YXY5U54QP6J5-111-243</_dlc_DocId>
    <_dlc_DocIdUrl xmlns="3d4f26da-c66a-415e-afb3-c3e30de15fc9">
      <Url>https://sutdcentral.sutd.edu.sg/Departments/MAC/_layouts/15/DocIdRedir.aspx?ID=YXY5U54QP6J5-111-243</Url>
      <Description>YXY5U54QP6J5-111-243</Description>
    </_dlc_DocIdUrl>
  </documentManagement>
</p:properties>
</file>

<file path=customXml/itemProps1.xml><?xml version="1.0" encoding="utf-8"?>
<ds:datastoreItem xmlns:ds="http://schemas.openxmlformats.org/officeDocument/2006/customXml" ds:itemID="{F03E143D-0C86-4E73-BBC9-06EA13392710}">
  <ds:schemaRefs>
    <ds:schemaRef ds:uri="3d4f26da-c66a-415e-afb3-c3e30de15fc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E7A51D8-AEA6-47BF-B856-83D7F3C65667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B538EB2-585F-4829-8B0F-4F8EB9A32648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364474A-2082-4FE9-BB5E-4B0BBCF391D5}">
  <ds:schemaRefs>
    <ds:schemaRef ds:uri="3d4f26da-c66a-415e-afb3-c3e30de15fc9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824</Words>
  <Application>Microsoft Office PowerPoint</Application>
  <PresentationFormat>Widescreen</PresentationFormat>
  <Paragraphs>241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CMSS8</vt:lpstr>
      <vt:lpstr>Roboto Condensed</vt:lpstr>
      <vt:lpstr>SFSS1095</vt:lpstr>
      <vt:lpstr>Wingdings</vt:lpstr>
      <vt:lpstr>Roxane</vt:lpstr>
      <vt:lpstr>Manufacturing and Service Operations MSO 40.012</vt:lpstr>
      <vt:lpstr>Forecasting: Example 1</vt:lpstr>
      <vt:lpstr>Forecasting: Example 2</vt:lpstr>
      <vt:lpstr>Forecasting: Example 3</vt:lpstr>
      <vt:lpstr>Aggregate planning: Example 4</vt:lpstr>
      <vt:lpstr>Aggregate planning: Example 4</vt:lpstr>
      <vt:lpstr>Aggregate planning: Example 4:</vt:lpstr>
      <vt:lpstr>Aggregate planning: Example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roxane desmicht</dc:creator>
  <cp:lastModifiedBy>roxane desmicht</cp:lastModifiedBy>
  <cp:revision>1</cp:revision>
  <dcterms:modified xsi:type="dcterms:W3CDTF">2026-04-14T16:25:23Z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2024-02-08T02:22:06Z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72b79aa1-8605-4ce7-b4d0-bc412d2c6b08</vt:lpwstr>
  </property>
  <property fmtid="{D5CDD505-2E9C-101B-9397-08002B2CF9AE}" pid="8" name="MSIP_Label_be298231-ee28-4c9e-9ffa-238d0040efda_ContentBits">
    <vt:lpwstr>0</vt:lpwstr>
  </property>
  <property fmtid="{D5CDD505-2E9C-101B-9397-08002B2CF9AE}" pid="9" name="ContentTypeId">
    <vt:lpwstr>0x0101004FF880307FB5214CAF087AE3F5FCCCAF</vt:lpwstr>
  </property>
  <property fmtid="{D5CDD505-2E9C-101B-9397-08002B2CF9AE}" pid="10" name="_dlc_DocIdItemGuid">
    <vt:lpwstr>fb360040-d834-41e6-bb2c-614febe85d6b</vt:lpwstr>
  </property>
</Properties>
</file>