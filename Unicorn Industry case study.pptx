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90" r:id="rId2"/>
    <p:sldId id="375" r:id="rId3"/>
    <p:sldId id="376" r:id="rId4"/>
    <p:sldId id="383"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5C9321-AB29-49C2-9A12-E1BB74FA8E47}" v="2" dt="2026-05-25T00:35:07.7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2" d="100"/>
          <a:sy n="72" d="100"/>
        </p:scale>
        <p:origin x="855"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xane desmicht" userId="ac1d6fb7a88f37a7" providerId="LiveId" clId="{93753085-ACB4-4C39-BA21-C7E5BA9510B2}"/>
    <pc:docChg chg="custSel modSld">
      <pc:chgData name="roxane desmicht" userId="ac1d6fb7a88f37a7" providerId="LiveId" clId="{93753085-ACB4-4C39-BA21-C7E5BA9510B2}" dt="2026-05-25T00:35:07.734" v="7"/>
      <pc:docMkLst>
        <pc:docMk/>
      </pc:docMkLst>
      <pc:sldChg chg="addSp delSp modSp mod">
        <pc:chgData name="roxane desmicht" userId="ac1d6fb7a88f37a7" providerId="LiveId" clId="{93753085-ACB4-4C39-BA21-C7E5BA9510B2}" dt="2026-05-21T01:16:29.961" v="3" actId="1076"/>
        <pc:sldMkLst>
          <pc:docMk/>
          <pc:sldMk cId="598616211" sldId="376"/>
        </pc:sldMkLst>
        <pc:picChg chg="add mod">
          <ac:chgData name="roxane desmicht" userId="ac1d6fb7a88f37a7" providerId="LiveId" clId="{93753085-ACB4-4C39-BA21-C7E5BA9510B2}" dt="2026-05-21T01:16:29.961" v="3" actId="1076"/>
          <ac:picMkLst>
            <pc:docMk/>
            <pc:sldMk cId="598616211" sldId="376"/>
            <ac:picMk id="5" creationId="{6CCF3412-4447-7F34-6835-664AE59A45B8}"/>
          </ac:picMkLst>
        </pc:picChg>
      </pc:sldChg>
      <pc:sldChg chg="addSp delSp modSp mod">
        <pc:chgData name="roxane desmicht" userId="ac1d6fb7a88f37a7" providerId="LiveId" clId="{93753085-ACB4-4C39-BA21-C7E5BA9510B2}" dt="2026-05-25T00:35:07.734" v="7"/>
        <pc:sldMkLst>
          <pc:docMk/>
          <pc:sldMk cId="4069347486" sldId="383"/>
        </pc:sldMkLst>
        <pc:graphicFrameChg chg="add mod">
          <ac:chgData name="roxane desmicht" userId="ac1d6fb7a88f37a7" providerId="LiveId" clId="{93753085-ACB4-4C39-BA21-C7E5BA9510B2}" dt="2026-05-25T00:35:07.734" v="7"/>
          <ac:graphicFrameMkLst>
            <pc:docMk/>
            <pc:sldMk cId="4069347486" sldId="383"/>
            <ac:graphicFrameMk id="3" creationId="{B76149CB-29C4-359D-C47B-AE5FAD17EC87}"/>
          </ac:graphicFrameMkLst>
        </pc:graphicFrame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R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1424FB-B2C2-353E-14D4-EFE09240DC6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D8914B1-F434-C88C-1B24-EBDAF7B47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F60A427-94AB-266C-05D9-894D28BBDDF4}"/>
              </a:ext>
            </a:extLst>
          </p:cNvPr>
          <p:cNvSpPr>
            <a:spLocks noGrp="1"/>
          </p:cNvSpPr>
          <p:nvPr>
            <p:ph type="dt" sz="half" idx="10"/>
          </p:nvPr>
        </p:nvSpPr>
        <p:spPr/>
        <p:txBody>
          <a:bodyPr/>
          <a:lstStyle/>
          <a:p>
            <a:fld id="{3F0B63B9-41B1-4EF2-8906-C69C7E5D6910}" type="datetime1">
              <a:rPr lang="fr-FR" smtClean="0"/>
              <a:t>25/05/2026</a:t>
            </a:fld>
            <a:endParaRPr lang="fr-FR"/>
          </a:p>
        </p:txBody>
      </p:sp>
      <p:sp>
        <p:nvSpPr>
          <p:cNvPr id="5" name="Espace réservé du pied de page 4">
            <a:extLst>
              <a:ext uri="{FF2B5EF4-FFF2-40B4-BE49-F238E27FC236}">
                <a16:creationId xmlns:a16="http://schemas.microsoft.com/office/drawing/2014/main" id="{653ADA64-25D8-62F7-D91E-41769E81ED8C}"/>
              </a:ext>
            </a:extLst>
          </p:cNvPr>
          <p:cNvSpPr>
            <a:spLocks noGrp="1"/>
          </p:cNvSpPr>
          <p:nvPr>
            <p:ph type="ftr" sz="quarter" idx="11"/>
          </p:nvPr>
        </p:nvSpPr>
        <p:spPr/>
        <p:txBody>
          <a:bodyPr/>
          <a:lstStyle/>
          <a:p>
            <a:r>
              <a:rPr lang="fr-FR" dirty="0"/>
              <a:t>R Desmicht – SUTD ESD MSO</a:t>
            </a:r>
          </a:p>
          <a:p>
            <a:r>
              <a:rPr lang="en-US" dirty="0">
                <a:latin typeface="SFSS1095"/>
              </a:rPr>
              <a:t>©</a:t>
            </a:r>
            <a:r>
              <a:rPr lang="en-US" dirty="0">
                <a:latin typeface="CMSS8"/>
              </a:rPr>
              <a:t>For limited distribution to SUTD-MSO students. All other rights reserved.</a:t>
            </a:r>
            <a:endParaRPr lang="fr-FR" dirty="0"/>
          </a:p>
        </p:txBody>
      </p:sp>
      <p:sp>
        <p:nvSpPr>
          <p:cNvPr id="6" name="Espace réservé du numéro de diapositive 5">
            <a:extLst>
              <a:ext uri="{FF2B5EF4-FFF2-40B4-BE49-F238E27FC236}">
                <a16:creationId xmlns:a16="http://schemas.microsoft.com/office/drawing/2014/main" id="{FB2C5995-F5AE-4DD5-2DC7-CB37CF74DA87}"/>
              </a:ext>
            </a:extLst>
          </p:cNvPr>
          <p:cNvSpPr>
            <a:spLocks noGrp="1"/>
          </p:cNvSpPr>
          <p:nvPr>
            <p:ph type="sldNum" sz="quarter" idx="12"/>
          </p:nvPr>
        </p:nvSpPr>
        <p:spPr/>
        <p:txBody>
          <a:bodyPr/>
          <a:lstStyle/>
          <a:p>
            <a:fld id="{68997BA5-F408-414D-A13C-638556FCCB01}" type="slidenum">
              <a:rPr lang="fr-FR" smtClean="0"/>
              <a:t>‹#›</a:t>
            </a:fld>
            <a:endParaRPr lang="fr-FR"/>
          </a:p>
        </p:txBody>
      </p:sp>
      <p:pic>
        <p:nvPicPr>
          <p:cNvPr id="7" name="Picture 4">
            <a:extLst>
              <a:ext uri="{FF2B5EF4-FFF2-40B4-BE49-F238E27FC236}">
                <a16:creationId xmlns:a16="http://schemas.microsoft.com/office/drawing/2014/main" id="{157E5659-F736-B588-3DA3-D2AED684C8E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12560" y="45415"/>
            <a:ext cx="2532649" cy="986656"/>
          </a:xfrm>
          <a:prstGeom prst="rect">
            <a:avLst/>
          </a:prstGeom>
        </p:spPr>
      </p:pic>
    </p:spTree>
    <p:extLst>
      <p:ext uri="{BB962C8B-B14F-4D97-AF65-F5344CB8AC3E}">
        <p14:creationId xmlns:p14="http://schemas.microsoft.com/office/powerpoint/2010/main" val="860204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3505C6-B8BF-210B-FA0F-42B0A9C36F7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2F25542-BF78-CB7E-EAE0-2D3C762C793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37DE763-A209-D439-516B-9CFE371332FF}"/>
              </a:ext>
            </a:extLst>
          </p:cNvPr>
          <p:cNvSpPr>
            <a:spLocks noGrp="1"/>
          </p:cNvSpPr>
          <p:nvPr>
            <p:ph type="dt" sz="half" idx="10"/>
          </p:nvPr>
        </p:nvSpPr>
        <p:spPr/>
        <p:txBody>
          <a:bodyPr/>
          <a:lstStyle/>
          <a:p>
            <a:fld id="{161C1263-5133-4A3F-AF29-67276BC9E376}" type="datetime1">
              <a:rPr lang="fr-FR" smtClean="0"/>
              <a:t>25/05/2026</a:t>
            </a:fld>
            <a:endParaRPr lang="fr-FR"/>
          </a:p>
        </p:txBody>
      </p:sp>
      <p:sp>
        <p:nvSpPr>
          <p:cNvPr id="5" name="Espace réservé du pied de page 4">
            <a:extLst>
              <a:ext uri="{FF2B5EF4-FFF2-40B4-BE49-F238E27FC236}">
                <a16:creationId xmlns:a16="http://schemas.microsoft.com/office/drawing/2014/main" id="{D84613AC-78B1-CD1C-01D6-251B954792E8}"/>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5AE40CD6-2FC8-B560-F471-95777FF986A0}"/>
              </a:ext>
            </a:extLst>
          </p:cNvPr>
          <p:cNvSpPr>
            <a:spLocks noGrp="1"/>
          </p:cNvSpPr>
          <p:nvPr>
            <p:ph type="sldNum" sz="quarter" idx="12"/>
          </p:nvPr>
        </p:nvSpPr>
        <p:spPr/>
        <p:txBody>
          <a:bodyPr/>
          <a:lstStyle/>
          <a:p>
            <a:fld id="{68997BA5-F408-414D-A13C-638556FCCB01}" type="slidenum">
              <a:rPr lang="fr-FR" smtClean="0"/>
              <a:t>‹#›</a:t>
            </a:fld>
            <a:endParaRPr lang="fr-FR"/>
          </a:p>
        </p:txBody>
      </p:sp>
      <p:pic>
        <p:nvPicPr>
          <p:cNvPr id="7" name="Picture 8">
            <a:extLst>
              <a:ext uri="{FF2B5EF4-FFF2-40B4-BE49-F238E27FC236}">
                <a16:creationId xmlns:a16="http://schemas.microsoft.com/office/drawing/2014/main" id="{4B9CB68F-7D20-8FD2-66F6-30B684703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35938" y="60403"/>
            <a:ext cx="476924" cy="476924"/>
          </a:xfrm>
          <a:prstGeom prst="rect">
            <a:avLst/>
          </a:prstGeom>
        </p:spPr>
      </p:pic>
    </p:spTree>
    <p:extLst>
      <p:ext uri="{BB962C8B-B14F-4D97-AF65-F5344CB8AC3E}">
        <p14:creationId xmlns:p14="http://schemas.microsoft.com/office/powerpoint/2010/main" val="1479624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u bi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3505C6-B8BF-210B-FA0F-42B0A9C36F7C}"/>
              </a:ext>
            </a:extLst>
          </p:cNvPr>
          <p:cNvSpPr>
            <a:spLocks noGrp="1"/>
          </p:cNvSpPr>
          <p:nvPr>
            <p:ph type="title"/>
          </p:nvPr>
        </p:nvSpPr>
        <p:spPr>
          <a:xfrm>
            <a:off x="686851" y="-196128"/>
            <a:ext cx="10515600" cy="1325563"/>
          </a:xfrm>
        </p:spPr>
        <p:txBody>
          <a:bodyPr/>
          <a:lstStyle/>
          <a:p>
            <a:r>
              <a:rPr lang="fr-FR"/>
              <a:t>Modifiez le style du titre</a:t>
            </a:r>
          </a:p>
        </p:txBody>
      </p:sp>
      <p:sp>
        <p:nvSpPr>
          <p:cNvPr id="3" name="Espace réservé du contenu 2">
            <a:extLst>
              <a:ext uri="{FF2B5EF4-FFF2-40B4-BE49-F238E27FC236}">
                <a16:creationId xmlns:a16="http://schemas.microsoft.com/office/drawing/2014/main" id="{52F25542-BF78-CB7E-EAE0-2D3C762C793E}"/>
              </a:ext>
            </a:extLst>
          </p:cNvPr>
          <p:cNvSpPr>
            <a:spLocks noGrp="1"/>
          </p:cNvSpPr>
          <p:nvPr>
            <p:ph idx="1"/>
          </p:nvPr>
        </p:nvSpPr>
        <p:spPr>
          <a:xfrm>
            <a:off x="686851" y="1253331"/>
            <a:ext cx="10790446" cy="49330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37DE763-A209-D439-516B-9CFE371332FF}"/>
              </a:ext>
            </a:extLst>
          </p:cNvPr>
          <p:cNvSpPr>
            <a:spLocks noGrp="1"/>
          </p:cNvSpPr>
          <p:nvPr>
            <p:ph type="dt" sz="half" idx="10"/>
          </p:nvPr>
        </p:nvSpPr>
        <p:spPr/>
        <p:txBody>
          <a:bodyPr/>
          <a:lstStyle/>
          <a:p>
            <a:fld id="{161C1263-5133-4A3F-AF29-67276BC9E376}" type="datetime1">
              <a:rPr lang="fr-FR" smtClean="0"/>
              <a:t>25/05/2026</a:t>
            </a:fld>
            <a:endParaRPr lang="fr-FR"/>
          </a:p>
        </p:txBody>
      </p:sp>
      <p:sp>
        <p:nvSpPr>
          <p:cNvPr id="5" name="Espace réservé du pied de page 4">
            <a:extLst>
              <a:ext uri="{FF2B5EF4-FFF2-40B4-BE49-F238E27FC236}">
                <a16:creationId xmlns:a16="http://schemas.microsoft.com/office/drawing/2014/main" id="{D84613AC-78B1-CD1C-01D6-251B954792E8}"/>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5AE40CD6-2FC8-B560-F471-95777FF986A0}"/>
              </a:ext>
            </a:extLst>
          </p:cNvPr>
          <p:cNvSpPr>
            <a:spLocks noGrp="1"/>
          </p:cNvSpPr>
          <p:nvPr>
            <p:ph type="sldNum" sz="quarter" idx="12"/>
          </p:nvPr>
        </p:nvSpPr>
        <p:spPr/>
        <p:txBody>
          <a:bodyPr/>
          <a:lstStyle/>
          <a:p>
            <a:fld id="{68997BA5-F408-414D-A13C-638556FCCB01}" type="slidenum">
              <a:rPr lang="fr-FR" smtClean="0"/>
              <a:t>‹#›</a:t>
            </a:fld>
            <a:endParaRPr lang="fr-FR"/>
          </a:p>
        </p:txBody>
      </p:sp>
      <p:pic>
        <p:nvPicPr>
          <p:cNvPr id="7" name="Picture 8">
            <a:extLst>
              <a:ext uri="{FF2B5EF4-FFF2-40B4-BE49-F238E27FC236}">
                <a16:creationId xmlns:a16="http://schemas.microsoft.com/office/drawing/2014/main" id="{4B9CB68F-7D20-8FD2-66F6-30B684703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635938" y="60403"/>
            <a:ext cx="476924" cy="476924"/>
          </a:xfrm>
          <a:prstGeom prst="rect">
            <a:avLst/>
          </a:prstGeom>
        </p:spPr>
      </p:pic>
    </p:spTree>
    <p:extLst>
      <p:ext uri="{BB962C8B-B14F-4D97-AF65-F5344CB8AC3E}">
        <p14:creationId xmlns:p14="http://schemas.microsoft.com/office/powerpoint/2010/main" val="2570372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363C2C-3372-7819-514D-230E3F84AB8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B3C4435-4A01-04D1-3474-209E32B53F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DF2EC96-70FF-1274-AD63-B4AB4C97EEBC}"/>
              </a:ext>
            </a:extLst>
          </p:cNvPr>
          <p:cNvSpPr>
            <a:spLocks noGrp="1"/>
          </p:cNvSpPr>
          <p:nvPr>
            <p:ph type="dt" sz="half" idx="10"/>
          </p:nvPr>
        </p:nvSpPr>
        <p:spPr/>
        <p:txBody>
          <a:bodyPr/>
          <a:lstStyle/>
          <a:p>
            <a:fld id="{FE7EF1F9-5395-45A8-A3A2-5E8E68D343FC}" type="datetime1">
              <a:rPr lang="fr-FR" smtClean="0"/>
              <a:t>25/05/2026</a:t>
            </a:fld>
            <a:endParaRPr lang="fr-FR"/>
          </a:p>
        </p:txBody>
      </p:sp>
      <p:sp>
        <p:nvSpPr>
          <p:cNvPr id="5" name="Espace réservé du pied de page 4">
            <a:extLst>
              <a:ext uri="{FF2B5EF4-FFF2-40B4-BE49-F238E27FC236}">
                <a16:creationId xmlns:a16="http://schemas.microsoft.com/office/drawing/2014/main" id="{2CC82CBA-CF65-E5D2-0B88-33A6D85127C5}"/>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427A0144-CBEA-E7A5-1B96-C15D732FDECA}"/>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1026751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760DFC-8E4D-8D7D-FE9E-D016FBCFD4F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842315A-08F1-862D-0CE4-A6B3FA16E43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ADB3299-D812-F071-0FA8-2E695B84F4E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736EAE0-ECBF-884B-BBAF-E12C00F26DB1}"/>
              </a:ext>
            </a:extLst>
          </p:cNvPr>
          <p:cNvSpPr>
            <a:spLocks noGrp="1"/>
          </p:cNvSpPr>
          <p:nvPr>
            <p:ph type="dt" sz="half" idx="10"/>
          </p:nvPr>
        </p:nvSpPr>
        <p:spPr/>
        <p:txBody>
          <a:bodyPr/>
          <a:lstStyle/>
          <a:p>
            <a:fld id="{4CB7F815-BF12-4A59-9983-4A508F1EE457}" type="datetime1">
              <a:rPr lang="fr-FR" smtClean="0"/>
              <a:t>25/05/2026</a:t>
            </a:fld>
            <a:endParaRPr lang="fr-FR"/>
          </a:p>
        </p:txBody>
      </p:sp>
      <p:sp>
        <p:nvSpPr>
          <p:cNvPr id="6" name="Espace réservé du pied de page 5">
            <a:extLst>
              <a:ext uri="{FF2B5EF4-FFF2-40B4-BE49-F238E27FC236}">
                <a16:creationId xmlns:a16="http://schemas.microsoft.com/office/drawing/2014/main" id="{C3289DA1-770E-89F5-EA2B-DFEB45FC5AF9}"/>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7" name="Espace réservé du numéro de diapositive 6">
            <a:extLst>
              <a:ext uri="{FF2B5EF4-FFF2-40B4-BE49-F238E27FC236}">
                <a16:creationId xmlns:a16="http://schemas.microsoft.com/office/drawing/2014/main" id="{7C7D89B5-BD14-83ED-2A17-B708B89E8BA9}"/>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3791999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CD1517-5F8C-616B-229A-AA3FB17AB09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D8C2F85-7020-1EED-DB3F-BF6B93F0A8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902A681-0A44-6617-B5C8-B6D28109C7B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F22AF14-7F0D-8F7A-20D0-02AC272E6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4D66910-CCD6-0285-F9D0-D54424F234D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2E93219-D9AA-580E-F7A8-B2924982373F}"/>
              </a:ext>
            </a:extLst>
          </p:cNvPr>
          <p:cNvSpPr>
            <a:spLocks noGrp="1"/>
          </p:cNvSpPr>
          <p:nvPr>
            <p:ph type="dt" sz="half" idx="10"/>
          </p:nvPr>
        </p:nvSpPr>
        <p:spPr/>
        <p:txBody>
          <a:bodyPr/>
          <a:lstStyle/>
          <a:p>
            <a:fld id="{F4DE5BE8-B1A6-4154-B7A9-AC99CD5F69A1}" type="datetime1">
              <a:rPr lang="fr-FR" smtClean="0"/>
              <a:t>25/05/2026</a:t>
            </a:fld>
            <a:endParaRPr lang="fr-FR"/>
          </a:p>
        </p:txBody>
      </p:sp>
      <p:sp>
        <p:nvSpPr>
          <p:cNvPr id="8" name="Espace réservé du pied de page 7">
            <a:extLst>
              <a:ext uri="{FF2B5EF4-FFF2-40B4-BE49-F238E27FC236}">
                <a16:creationId xmlns:a16="http://schemas.microsoft.com/office/drawing/2014/main" id="{294FD95B-9027-A2E7-2C5E-8E4B9CBC14A4}"/>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9" name="Espace réservé du numéro de diapositive 8">
            <a:extLst>
              <a:ext uri="{FF2B5EF4-FFF2-40B4-BE49-F238E27FC236}">
                <a16:creationId xmlns:a16="http://schemas.microsoft.com/office/drawing/2014/main" id="{2F79F18E-B1FB-1138-52D5-C63C2F3A31ED}"/>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1182327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E6BE9F-3BA2-3FBB-C89A-95A72E6CAA7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2755B9C-68B7-23C3-573D-B71712F8DD66}"/>
              </a:ext>
            </a:extLst>
          </p:cNvPr>
          <p:cNvSpPr>
            <a:spLocks noGrp="1"/>
          </p:cNvSpPr>
          <p:nvPr>
            <p:ph type="dt" sz="half" idx="10"/>
          </p:nvPr>
        </p:nvSpPr>
        <p:spPr/>
        <p:txBody>
          <a:bodyPr/>
          <a:lstStyle/>
          <a:p>
            <a:fld id="{9AFC4647-F711-4BE0-B12C-831B528B88AA}" type="datetime1">
              <a:rPr lang="fr-FR" smtClean="0"/>
              <a:t>25/05/2026</a:t>
            </a:fld>
            <a:endParaRPr lang="fr-FR"/>
          </a:p>
        </p:txBody>
      </p:sp>
      <p:sp>
        <p:nvSpPr>
          <p:cNvPr id="4" name="Espace réservé du pied de page 3">
            <a:extLst>
              <a:ext uri="{FF2B5EF4-FFF2-40B4-BE49-F238E27FC236}">
                <a16:creationId xmlns:a16="http://schemas.microsoft.com/office/drawing/2014/main" id="{032643EA-1A58-2BD4-6EE9-99F1F258B767}"/>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5" name="Espace réservé du numéro de diapositive 4">
            <a:extLst>
              <a:ext uri="{FF2B5EF4-FFF2-40B4-BE49-F238E27FC236}">
                <a16:creationId xmlns:a16="http://schemas.microsoft.com/office/drawing/2014/main" id="{DD3359BF-7835-68E1-3EDE-0EA61A4B2A4F}"/>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2885960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0EB7AB5-0030-7B1F-4030-EEF44116CF69}"/>
              </a:ext>
            </a:extLst>
          </p:cNvPr>
          <p:cNvSpPr>
            <a:spLocks noGrp="1"/>
          </p:cNvSpPr>
          <p:nvPr>
            <p:ph type="dt" sz="half" idx="10"/>
          </p:nvPr>
        </p:nvSpPr>
        <p:spPr/>
        <p:txBody>
          <a:bodyPr/>
          <a:lstStyle/>
          <a:p>
            <a:fld id="{9488F19C-CB2F-4D76-AA0B-06FDD06C7D9E}" type="datetime1">
              <a:rPr lang="fr-FR" smtClean="0"/>
              <a:t>25/05/2026</a:t>
            </a:fld>
            <a:endParaRPr lang="fr-FR"/>
          </a:p>
        </p:txBody>
      </p:sp>
      <p:sp>
        <p:nvSpPr>
          <p:cNvPr id="3" name="Espace réservé du pied de page 2">
            <a:extLst>
              <a:ext uri="{FF2B5EF4-FFF2-40B4-BE49-F238E27FC236}">
                <a16:creationId xmlns:a16="http://schemas.microsoft.com/office/drawing/2014/main" id="{DD5EE8CF-57D9-CF0D-4784-0E8F6D84B65F}"/>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4" name="Espace réservé du numéro de diapositive 3">
            <a:extLst>
              <a:ext uri="{FF2B5EF4-FFF2-40B4-BE49-F238E27FC236}">
                <a16:creationId xmlns:a16="http://schemas.microsoft.com/office/drawing/2014/main" id="{128DA041-3E3C-6D49-CF63-9581CEECEEEB}"/>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3635987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8FBDAC-795E-9E5D-B1A3-9AE9702EFE4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07CDC07-EBA8-6DA8-A0C4-BDD18EB4F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12048EF-7FE3-C7AE-4AE5-E29683D45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37893E0-322B-F6B0-0123-6D8DA2ADDB6D}"/>
              </a:ext>
            </a:extLst>
          </p:cNvPr>
          <p:cNvSpPr>
            <a:spLocks noGrp="1"/>
          </p:cNvSpPr>
          <p:nvPr>
            <p:ph type="dt" sz="half" idx="10"/>
          </p:nvPr>
        </p:nvSpPr>
        <p:spPr/>
        <p:txBody>
          <a:bodyPr/>
          <a:lstStyle/>
          <a:p>
            <a:fld id="{9B2A2F0D-45A5-4A20-B4B2-6E16E0083518}" type="datetime1">
              <a:rPr lang="fr-FR" smtClean="0"/>
              <a:t>25/05/2026</a:t>
            </a:fld>
            <a:endParaRPr lang="fr-FR"/>
          </a:p>
        </p:txBody>
      </p:sp>
      <p:sp>
        <p:nvSpPr>
          <p:cNvPr id="6" name="Espace réservé du pied de page 5">
            <a:extLst>
              <a:ext uri="{FF2B5EF4-FFF2-40B4-BE49-F238E27FC236}">
                <a16:creationId xmlns:a16="http://schemas.microsoft.com/office/drawing/2014/main" id="{FF270E30-B7DE-719D-352E-DB7199409F97}"/>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7" name="Espace réservé du numéro de diapositive 6">
            <a:extLst>
              <a:ext uri="{FF2B5EF4-FFF2-40B4-BE49-F238E27FC236}">
                <a16:creationId xmlns:a16="http://schemas.microsoft.com/office/drawing/2014/main" id="{B2160212-88F0-D637-2131-CE00E060C4BC}"/>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1533305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D9B561-3FEE-2785-73D7-5949A95FA45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31CB62C-0CD8-01E5-9975-64DAB252F1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7B9B561-E93A-FC26-1826-B41E6B51C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119A63C-0A01-1554-254C-E24DD190A635}"/>
              </a:ext>
            </a:extLst>
          </p:cNvPr>
          <p:cNvSpPr>
            <a:spLocks noGrp="1"/>
          </p:cNvSpPr>
          <p:nvPr>
            <p:ph type="dt" sz="half" idx="10"/>
          </p:nvPr>
        </p:nvSpPr>
        <p:spPr/>
        <p:txBody>
          <a:bodyPr/>
          <a:lstStyle/>
          <a:p>
            <a:fld id="{BA102F3D-CBDE-43A3-B3E4-BEE175F52B0F}" type="datetime1">
              <a:rPr lang="fr-FR" smtClean="0"/>
              <a:t>25/05/2026</a:t>
            </a:fld>
            <a:endParaRPr lang="fr-FR"/>
          </a:p>
        </p:txBody>
      </p:sp>
      <p:sp>
        <p:nvSpPr>
          <p:cNvPr id="6" name="Espace réservé du pied de page 5">
            <a:extLst>
              <a:ext uri="{FF2B5EF4-FFF2-40B4-BE49-F238E27FC236}">
                <a16:creationId xmlns:a16="http://schemas.microsoft.com/office/drawing/2014/main" id="{644BCFD9-3963-1EF3-366B-26D1BE0FD4B6}"/>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7" name="Espace réservé du numéro de diapositive 6">
            <a:extLst>
              <a:ext uri="{FF2B5EF4-FFF2-40B4-BE49-F238E27FC236}">
                <a16:creationId xmlns:a16="http://schemas.microsoft.com/office/drawing/2014/main" id="{C35CFF0E-1A81-9EB4-6751-1A373C80307B}"/>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2839682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D0F98B-22B0-BB05-D8B6-E4D1F5E09F6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77F851B-BE91-A431-2DC8-171C97051FF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810C4FB-CC8D-C727-346B-A7C634DF13AC}"/>
              </a:ext>
            </a:extLst>
          </p:cNvPr>
          <p:cNvSpPr>
            <a:spLocks noGrp="1"/>
          </p:cNvSpPr>
          <p:nvPr>
            <p:ph type="dt" sz="half" idx="10"/>
          </p:nvPr>
        </p:nvSpPr>
        <p:spPr/>
        <p:txBody>
          <a:bodyPr/>
          <a:lstStyle/>
          <a:p>
            <a:fld id="{C03324E5-3382-48E1-80B2-28901262BD85}" type="datetime1">
              <a:rPr lang="fr-FR" smtClean="0"/>
              <a:t>25/05/2026</a:t>
            </a:fld>
            <a:endParaRPr lang="fr-FR"/>
          </a:p>
        </p:txBody>
      </p:sp>
      <p:sp>
        <p:nvSpPr>
          <p:cNvPr id="5" name="Espace réservé du pied de page 4">
            <a:extLst>
              <a:ext uri="{FF2B5EF4-FFF2-40B4-BE49-F238E27FC236}">
                <a16:creationId xmlns:a16="http://schemas.microsoft.com/office/drawing/2014/main" id="{F10DFA09-3D99-C369-E377-A3E03E01C381}"/>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3EF1E5B5-F506-CE71-D6B0-A9846E1EF0EF}"/>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2492420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E7DB6F0-644B-EC13-DD42-8CCDC52C1F2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16C591E-A17B-C4B9-3EC9-710FA461EF1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182A9A7-F766-53A7-7B8E-D3D799BA3F42}"/>
              </a:ext>
            </a:extLst>
          </p:cNvPr>
          <p:cNvSpPr>
            <a:spLocks noGrp="1"/>
          </p:cNvSpPr>
          <p:nvPr>
            <p:ph type="dt" sz="half" idx="10"/>
          </p:nvPr>
        </p:nvSpPr>
        <p:spPr/>
        <p:txBody>
          <a:bodyPr/>
          <a:lstStyle/>
          <a:p>
            <a:fld id="{D57F1642-828A-4A9B-A0D9-ACC2537DE6CF}" type="datetime1">
              <a:rPr lang="fr-FR" smtClean="0"/>
              <a:t>25/05/2026</a:t>
            </a:fld>
            <a:endParaRPr lang="fr-FR"/>
          </a:p>
        </p:txBody>
      </p:sp>
      <p:sp>
        <p:nvSpPr>
          <p:cNvPr id="5" name="Espace réservé du pied de page 4">
            <a:extLst>
              <a:ext uri="{FF2B5EF4-FFF2-40B4-BE49-F238E27FC236}">
                <a16:creationId xmlns:a16="http://schemas.microsoft.com/office/drawing/2014/main" id="{998E2B65-42D7-8672-D9CB-D23D26E958AD}"/>
              </a:ext>
            </a:extLst>
          </p:cNvPr>
          <p:cNvSpPr>
            <a:spLocks noGrp="1"/>
          </p:cNvSpPr>
          <p:nvPr>
            <p:ph type="ftr" sz="quarter" idx="11"/>
          </p:nvPr>
        </p:nvSpPr>
        <p:spPr/>
        <p:txBody>
          <a:bodyPr/>
          <a:lstStyle/>
          <a:p>
            <a:r>
              <a:rPr lang="en-US"/>
              <a:t>R Desmicht – SUTD ESD MSO ©For limited distribution to SUTD-MSO students. All other rights reserved.</a:t>
            </a:r>
            <a:endParaRPr lang="fr-FR"/>
          </a:p>
        </p:txBody>
      </p:sp>
      <p:sp>
        <p:nvSpPr>
          <p:cNvPr id="6" name="Espace réservé du numéro de diapositive 5">
            <a:extLst>
              <a:ext uri="{FF2B5EF4-FFF2-40B4-BE49-F238E27FC236}">
                <a16:creationId xmlns:a16="http://schemas.microsoft.com/office/drawing/2014/main" id="{CE6C168C-7FD2-DF23-947B-FB6FC12174EF}"/>
              </a:ext>
            </a:extLst>
          </p:cNvPr>
          <p:cNvSpPr>
            <a:spLocks noGrp="1"/>
          </p:cNvSpPr>
          <p:nvPr>
            <p:ph type="sldNum" sz="quarter" idx="12"/>
          </p:nvPr>
        </p:nvSpPr>
        <p:spPr/>
        <p:txBody>
          <a:bodyPr/>
          <a:lstStyle/>
          <a:p>
            <a:fld id="{68997BA5-F408-414D-A13C-638556FCCB01}" type="slidenum">
              <a:rPr lang="fr-FR" smtClean="0"/>
              <a:t>‹#›</a:t>
            </a:fld>
            <a:endParaRPr lang="fr-FR"/>
          </a:p>
        </p:txBody>
      </p:sp>
    </p:spTree>
    <p:extLst>
      <p:ext uri="{BB962C8B-B14F-4D97-AF65-F5344CB8AC3E}">
        <p14:creationId xmlns:p14="http://schemas.microsoft.com/office/powerpoint/2010/main" val="2039309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1E1A466-517E-88E2-69B0-B64358A7D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29793F8-5A78-E1E3-FB4E-48132E3605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7B0DAA-515C-8372-F3DE-9B64B7777A8B}"/>
              </a:ext>
            </a:extLst>
          </p:cNvPr>
          <p:cNvSpPr>
            <a:spLocks noGrp="1"/>
          </p:cNvSpPr>
          <p:nvPr>
            <p:ph type="dt" sz="half" idx="2"/>
          </p:nvPr>
        </p:nvSpPr>
        <p:spPr>
          <a:xfrm>
            <a:off x="371278" y="6356349"/>
            <a:ext cx="10791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5F8E44-A292-441B-84B3-789F3F706E47}" type="datetime1">
              <a:rPr lang="fr-FR" smtClean="0"/>
              <a:t>25/05/2026</a:t>
            </a:fld>
            <a:endParaRPr lang="fr-FR" dirty="0"/>
          </a:p>
        </p:txBody>
      </p:sp>
      <p:sp>
        <p:nvSpPr>
          <p:cNvPr id="5" name="Espace réservé du pied de page 4">
            <a:extLst>
              <a:ext uri="{FF2B5EF4-FFF2-40B4-BE49-F238E27FC236}">
                <a16:creationId xmlns:a16="http://schemas.microsoft.com/office/drawing/2014/main" id="{DF42090D-3DD0-9C8B-C350-D97F0CCF6FEC}"/>
              </a:ext>
            </a:extLst>
          </p:cNvPr>
          <p:cNvSpPr>
            <a:spLocks noGrp="1"/>
          </p:cNvSpPr>
          <p:nvPr>
            <p:ph type="ftr" sz="quarter" idx="3"/>
          </p:nvPr>
        </p:nvSpPr>
        <p:spPr>
          <a:xfrm>
            <a:off x="1828800" y="6353525"/>
            <a:ext cx="8727790" cy="365125"/>
          </a:xfrm>
          <a:prstGeom prst="rect">
            <a:avLst/>
          </a:prstGeom>
          <a:solidFill>
            <a:schemeClr val="bg2">
              <a:lumMod val="90000"/>
            </a:schemeClr>
          </a:solidFill>
        </p:spPr>
        <p:txBody>
          <a:bodyPr vert="horz" lIns="91440" tIns="45720" rIns="91440" bIns="45720" rtlCol="0" anchor="ctr"/>
          <a:lstStyle>
            <a:lvl1pPr algn="ctr">
              <a:defRPr sz="1100">
                <a:solidFill>
                  <a:schemeClr val="tx1">
                    <a:tint val="82000"/>
                  </a:schemeClr>
                </a:solidFill>
              </a:defRPr>
            </a:lvl1pPr>
          </a:lstStyle>
          <a:p>
            <a:r>
              <a:rPr lang="fr-FR" dirty="0"/>
              <a:t>R Desmicht – SUTD ESD MSO</a:t>
            </a:r>
          </a:p>
          <a:p>
            <a:r>
              <a:rPr lang="en-US" dirty="0">
                <a:latin typeface="SFSS1095"/>
              </a:rPr>
              <a:t>©</a:t>
            </a:r>
            <a:r>
              <a:rPr lang="en-US" dirty="0">
                <a:latin typeface="CMSS8"/>
              </a:rPr>
              <a:t>For limited distribution to SUTD-MSO students. All other rights reserved.</a:t>
            </a:r>
            <a:endParaRPr lang="fr-FR" dirty="0"/>
          </a:p>
        </p:txBody>
      </p:sp>
      <p:sp>
        <p:nvSpPr>
          <p:cNvPr id="6" name="Espace réservé du numéro de diapositive 5">
            <a:extLst>
              <a:ext uri="{FF2B5EF4-FFF2-40B4-BE49-F238E27FC236}">
                <a16:creationId xmlns:a16="http://schemas.microsoft.com/office/drawing/2014/main" id="{9D9F9E31-B162-1888-EE2E-29E9FD2E1243}"/>
              </a:ext>
            </a:extLst>
          </p:cNvPr>
          <p:cNvSpPr>
            <a:spLocks noGrp="1"/>
          </p:cNvSpPr>
          <p:nvPr>
            <p:ph type="sldNum" sz="quarter" idx="4"/>
          </p:nvPr>
        </p:nvSpPr>
        <p:spPr>
          <a:xfrm>
            <a:off x="10815145" y="6356350"/>
            <a:ext cx="53865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997BA5-F408-414D-A13C-638556FCCB01}" type="slidenum">
              <a:rPr lang="fr-FR" smtClean="0"/>
              <a:t>‹#›</a:t>
            </a:fld>
            <a:endParaRPr lang="fr-FR"/>
          </a:p>
        </p:txBody>
      </p:sp>
    </p:spTree>
    <p:extLst>
      <p:ext uri="{BB962C8B-B14F-4D97-AF65-F5344CB8AC3E}">
        <p14:creationId xmlns:p14="http://schemas.microsoft.com/office/powerpoint/2010/main" val="157452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108" y="498764"/>
            <a:ext cx="10420927" cy="729673"/>
          </a:xfrm>
          <a:solidFill>
            <a:schemeClr val="accent2"/>
          </a:solidFill>
        </p:spPr>
        <p:txBody>
          <a:bodyPr>
            <a:normAutofit/>
          </a:bodyPr>
          <a:lstStyle/>
          <a:p>
            <a:r>
              <a:rPr lang="en-US" dirty="0">
                <a:solidFill>
                  <a:schemeClr val="tx1"/>
                </a:solidFill>
              </a:rPr>
              <a:t>Unicorn Industry case study</a:t>
            </a:r>
          </a:p>
        </p:txBody>
      </p:sp>
      <p:sp>
        <p:nvSpPr>
          <p:cNvPr id="5" name="Content Placeholder 2"/>
          <p:cNvSpPr>
            <a:spLocks noGrp="1"/>
          </p:cNvSpPr>
          <p:nvPr>
            <p:ph idx="1"/>
          </p:nvPr>
        </p:nvSpPr>
        <p:spPr>
          <a:xfrm>
            <a:off x="404091" y="1385456"/>
            <a:ext cx="11399982" cy="4581236"/>
          </a:xfrm>
        </p:spPr>
        <p:txBody>
          <a:bodyPr>
            <a:normAutofit fontScale="92500" lnSpcReduction="10000"/>
          </a:bodyPr>
          <a:lstStyle/>
          <a:p>
            <a:pPr marL="45720" indent="0">
              <a:buNone/>
            </a:pPr>
            <a:r>
              <a:rPr lang="en-US" sz="2000" dirty="0">
                <a:solidFill>
                  <a:schemeClr val="tx1"/>
                </a:solidFill>
              </a:rPr>
              <a:t>Unicorn is a UK company with a manufacturing plant in Bristol. It manufactures pieces of equipment used in skiing gears. Its peak season is in winter while spring time tends to be rather quiet. They have many different SKUs but have aggregated them all in one flow for the purpose of our study. All costs have been standardized as well.</a:t>
            </a:r>
          </a:p>
          <a:p>
            <a:pPr marL="45720" indent="0">
              <a:buNone/>
            </a:pPr>
            <a:r>
              <a:rPr lang="en-US" sz="2000" dirty="0">
                <a:solidFill>
                  <a:schemeClr val="tx1"/>
                </a:solidFill>
              </a:rPr>
              <a:t>They want us to run various scenario and assess the best aggregate plan for the next 12 months which would minimize their cost.</a:t>
            </a:r>
          </a:p>
          <a:p>
            <a:pPr marL="45720" indent="0">
              <a:buNone/>
            </a:pPr>
            <a:r>
              <a:rPr lang="en-US" sz="2000" dirty="0">
                <a:solidFill>
                  <a:schemeClr val="tx1"/>
                </a:solidFill>
              </a:rPr>
              <a:t>The levers we have are :</a:t>
            </a:r>
          </a:p>
          <a:p>
            <a:r>
              <a:rPr lang="en-US" dirty="0">
                <a:solidFill>
                  <a:schemeClr val="tx1"/>
                </a:solidFill>
              </a:rPr>
              <a:t>Size of the workforce (hiring and firing at a cost)</a:t>
            </a:r>
          </a:p>
          <a:p>
            <a:r>
              <a:rPr lang="en-US" sz="2000" dirty="0">
                <a:solidFill>
                  <a:schemeClr val="tx1"/>
                </a:solidFill>
              </a:rPr>
              <a:t>Outsourcing</a:t>
            </a:r>
          </a:p>
          <a:p>
            <a:r>
              <a:rPr lang="en-US" sz="2000" dirty="0">
                <a:solidFill>
                  <a:schemeClr val="tx1"/>
                </a:solidFill>
              </a:rPr>
              <a:t>Overtime at a cost</a:t>
            </a:r>
          </a:p>
          <a:p>
            <a:r>
              <a:rPr lang="en-US" sz="2000" dirty="0">
                <a:solidFill>
                  <a:schemeClr val="tx1"/>
                </a:solidFill>
              </a:rPr>
              <a:t>Backlog</a:t>
            </a:r>
          </a:p>
          <a:p>
            <a:r>
              <a:rPr lang="en-US" sz="2000" dirty="0">
                <a:solidFill>
                  <a:schemeClr val="tx1"/>
                </a:solidFill>
              </a:rPr>
              <a:t>Internal production level</a:t>
            </a:r>
          </a:p>
          <a:p>
            <a:pPr marL="45720" indent="0">
              <a:buNone/>
            </a:pPr>
            <a:r>
              <a:rPr lang="en-US" sz="2000" dirty="0">
                <a:solidFill>
                  <a:schemeClr val="tx1"/>
                </a:solidFill>
              </a:rPr>
              <a:t>We will develop different scenarios and assess which one is the most suitable for Unicorn.</a:t>
            </a:r>
            <a:endParaRPr lang="en-US" sz="1800" dirty="0">
              <a:solidFill>
                <a:schemeClr val="tx1"/>
              </a:solidFill>
            </a:endParaRPr>
          </a:p>
        </p:txBody>
      </p:sp>
    </p:spTree>
    <p:extLst>
      <p:ext uri="{BB962C8B-B14F-4D97-AF65-F5344CB8AC3E}">
        <p14:creationId xmlns:p14="http://schemas.microsoft.com/office/powerpoint/2010/main" val="1483316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108" y="498764"/>
            <a:ext cx="10420927" cy="729673"/>
          </a:xfrm>
        </p:spPr>
        <p:txBody>
          <a:bodyPr>
            <a:normAutofit/>
          </a:bodyPr>
          <a:lstStyle/>
          <a:p>
            <a:r>
              <a:rPr lang="en-US" dirty="0">
                <a:solidFill>
                  <a:schemeClr val="tx1"/>
                </a:solidFill>
              </a:rPr>
              <a:t>Unicorn Industry case study</a:t>
            </a:r>
          </a:p>
        </p:txBody>
      </p:sp>
      <p:sp>
        <p:nvSpPr>
          <p:cNvPr id="5" name="Content Placeholder 2"/>
          <p:cNvSpPr>
            <a:spLocks noGrp="1"/>
          </p:cNvSpPr>
          <p:nvPr>
            <p:ph idx="1"/>
          </p:nvPr>
        </p:nvSpPr>
        <p:spPr>
          <a:xfrm>
            <a:off x="283709" y="3792971"/>
            <a:ext cx="8906473" cy="2780144"/>
          </a:xfrm>
        </p:spPr>
        <p:txBody>
          <a:bodyPr>
            <a:normAutofit/>
          </a:bodyPr>
          <a:lstStyle/>
          <a:p>
            <a:pPr marL="45720" indent="0">
              <a:buNone/>
            </a:pPr>
            <a:r>
              <a:rPr lang="en-US" sz="1800" dirty="0">
                <a:solidFill>
                  <a:schemeClr val="tx1"/>
                </a:solidFill>
              </a:rPr>
              <a:t>The outsourcing cost includes material.</a:t>
            </a:r>
          </a:p>
          <a:p>
            <a:pPr marL="45720" indent="0">
              <a:buNone/>
            </a:pPr>
            <a:r>
              <a:rPr lang="en-US" sz="1800" dirty="0">
                <a:solidFill>
                  <a:schemeClr val="tx1"/>
                </a:solidFill>
              </a:rPr>
              <a:t>Overtime is at a max of 10 hours per employee. This limits the available capacity</a:t>
            </a:r>
          </a:p>
          <a:p>
            <a:pPr marL="45720" indent="0">
              <a:buNone/>
            </a:pPr>
            <a:r>
              <a:rPr lang="en-US" sz="1800" dirty="0">
                <a:solidFill>
                  <a:schemeClr val="tx1"/>
                </a:solidFill>
              </a:rPr>
              <a:t>Hiring up to 7 employees.</a:t>
            </a:r>
          </a:p>
          <a:p>
            <a:pPr marL="45720" indent="0">
              <a:buNone/>
            </a:pPr>
            <a:r>
              <a:rPr lang="en-US" sz="1800" dirty="0">
                <a:solidFill>
                  <a:schemeClr val="tx1"/>
                </a:solidFill>
              </a:rPr>
              <a:t>There are 4 weeks per month and 40 hours work time per week.</a:t>
            </a:r>
          </a:p>
          <a:p>
            <a:pPr marL="45720" indent="0">
              <a:buNone/>
            </a:pPr>
            <a:r>
              <a:rPr lang="en-US" sz="1800" dirty="0">
                <a:solidFill>
                  <a:schemeClr val="tx1"/>
                </a:solidFill>
              </a:rPr>
              <a:t>The demand is as per the attached table.</a:t>
            </a:r>
          </a:p>
          <a:p>
            <a:pPr marL="45720" indent="0">
              <a:buNone/>
            </a:pPr>
            <a:endParaRPr lang="en-US" sz="1800" dirty="0">
              <a:solidFill>
                <a:schemeClr val="tx1"/>
              </a:solidFill>
            </a:endParaRPr>
          </a:p>
        </p:txBody>
      </p:sp>
      <p:pic>
        <p:nvPicPr>
          <p:cNvPr id="6" name="Picture 5"/>
          <p:cNvPicPr>
            <a:picLocks noChangeAspect="1"/>
          </p:cNvPicPr>
          <p:nvPr/>
        </p:nvPicPr>
        <p:blipFill>
          <a:blip r:embed="rId2"/>
          <a:stretch>
            <a:fillRect/>
          </a:stretch>
        </p:blipFill>
        <p:spPr>
          <a:xfrm>
            <a:off x="9352983" y="3627041"/>
            <a:ext cx="2552381" cy="2866667"/>
          </a:xfrm>
          <a:prstGeom prst="rect">
            <a:avLst/>
          </a:prstGeom>
        </p:spPr>
      </p:pic>
      <p:pic>
        <p:nvPicPr>
          <p:cNvPr id="4" name="Picture 3"/>
          <p:cNvPicPr>
            <a:picLocks noChangeAspect="1"/>
          </p:cNvPicPr>
          <p:nvPr/>
        </p:nvPicPr>
        <p:blipFill>
          <a:blip r:embed="rId3"/>
          <a:stretch>
            <a:fillRect/>
          </a:stretch>
        </p:blipFill>
        <p:spPr>
          <a:xfrm>
            <a:off x="505382" y="1062507"/>
            <a:ext cx="10532378" cy="2564534"/>
          </a:xfrm>
          <a:prstGeom prst="rect">
            <a:avLst/>
          </a:prstGeom>
        </p:spPr>
      </p:pic>
    </p:spTree>
    <p:extLst>
      <p:ext uri="{BB962C8B-B14F-4D97-AF65-F5344CB8AC3E}">
        <p14:creationId xmlns:p14="http://schemas.microsoft.com/office/powerpoint/2010/main" val="1965487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108" y="498764"/>
            <a:ext cx="10420927" cy="729673"/>
          </a:xfrm>
        </p:spPr>
        <p:txBody>
          <a:bodyPr>
            <a:normAutofit/>
          </a:bodyPr>
          <a:lstStyle/>
          <a:p>
            <a:r>
              <a:rPr lang="en-US" dirty="0">
                <a:solidFill>
                  <a:schemeClr val="tx1"/>
                </a:solidFill>
              </a:rPr>
              <a:t>Unicorn Industry case study</a:t>
            </a:r>
          </a:p>
        </p:txBody>
      </p:sp>
      <p:sp>
        <p:nvSpPr>
          <p:cNvPr id="6" name="Rectangle 5"/>
          <p:cNvSpPr/>
          <p:nvPr/>
        </p:nvSpPr>
        <p:spPr>
          <a:xfrm>
            <a:off x="338271" y="4892388"/>
            <a:ext cx="11356424" cy="923330"/>
          </a:xfrm>
          <a:prstGeom prst="rect">
            <a:avLst/>
          </a:prstGeom>
        </p:spPr>
        <p:txBody>
          <a:bodyPr wrap="square">
            <a:spAutoFit/>
          </a:bodyPr>
          <a:lstStyle/>
          <a:p>
            <a:pPr marL="4572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Yellow cell: </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for you to key your entries</a:t>
            </a:r>
          </a:p>
          <a:p>
            <a:pPr marL="4572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Take note </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the inventory column cannot show a negative figure; a negative figure indicates backlog and needs to be reflected in the backlog column</a:t>
            </a:r>
          </a:p>
        </p:txBody>
      </p:sp>
      <p:pic>
        <p:nvPicPr>
          <p:cNvPr id="5" name="Picture 4">
            <a:extLst>
              <a:ext uri="{FF2B5EF4-FFF2-40B4-BE49-F238E27FC236}">
                <a16:creationId xmlns:a16="http://schemas.microsoft.com/office/drawing/2014/main" id="{6CCF3412-4447-7F34-6835-664AE59A45B8}"/>
              </a:ext>
            </a:extLst>
          </p:cNvPr>
          <p:cNvPicPr>
            <a:picLocks noChangeAspect="1"/>
          </p:cNvPicPr>
          <p:nvPr/>
        </p:nvPicPr>
        <p:blipFill>
          <a:blip r:embed="rId2"/>
          <a:stretch>
            <a:fillRect/>
          </a:stretch>
        </p:blipFill>
        <p:spPr>
          <a:xfrm>
            <a:off x="1819275" y="2320579"/>
            <a:ext cx="8248650" cy="1209675"/>
          </a:xfrm>
          <a:prstGeom prst="rect">
            <a:avLst/>
          </a:prstGeom>
        </p:spPr>
      </p:pic>
    </p:spTree>
    <p:extLst>
      <p:ext uri="{BB962C8B-B14F-4D97-AF65-F5344CB8AC3E}">
        <p14:creationId xmlns:p14="http://schemas.microsoft.com/office/powerpoint/2010/main" val="598616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108" y="498764"/>
            <a:ext cx="10420927" cy="729673"/>
          </a:xfrm>
        </p:spPr>
        <p:txBody>
          <a:bodyPr>
            <a:normAutofit/>
          </a:bodyPr>
          <a:lstStyle/>
          <a:p>
            <a:r>
              <a:rPr lang="en-US" dirty="0">
                <a:solidFill>
                  <a:schemeClr val="tx1"/>
                </a:solidFill>
              </a:rPr>
              <a:t>Unicorn Industry case study</a:t>
            </a:r>
          </a:p>
        </p:txBody>
      </p:sp>
      <p:sp>
        <p:nvSpPr>
          <p:cNvPr id="5" name="Content Placeholder 2"/>
          <p:cNvSpPr>
            <a:spLocks noGrp="1"/>
          </p:cNvSpPr>
          <p:nvPr>
            <p:ph idx="1"/>
          </p:nvPr>
        </p:nvSpPr>
        <p:spPr>
          <a:xfrm>
            <a:off x="256308" y="1653310"/>
            <a:ext cx="11399982" cy="3528290"/>
          </a:xfrm>
        </p:spPr>
        <p:txBody>
          <a:bodyPr>
            <a:noAutofit/>
          </a:bodyPr>
          <a:lstStyle/>
          <a:p>
            <a:pPr marL="45720" indent="0">
              <a:buNone/>
            </a:pPr>
            <a:r>
              <a:rPr lang="en-US" sz="1800" dirty="0">
                <a:solidFill>
                  <a:schemeClr val="tx1"/>
                </a:solidFill>
              </a:rPr>
              <a:t>With the information you have :</a:t>
            </a:r>
          </a:p>
          <a:p>
            <a:pPr marL="388620" indent="-342900">
              <a:buAutoNum type="arabicParenR"/>
            </a:pPr>
            <a:r>
              <a:rPr lang="en-US" sz="1800" dirty="0">
                <a:solidFill>
                  <a:schemeClr val="tx1"/>
                </a:solidFill>
              </a:rPr>
              <a:t>Understand  the provided spreadsheet to assess the total cost based on various production scenario</a:t>
            </a:r>
          </a:p>
          <a:p>
            <a:pPr marL="388620" indent="-342900">
              <a:buAutoNum type="arabicParenR"/>
            </a:pPr>
            <a:r>
              <a:rPr lang="en-US" sz="1800" dirty="0">
                <a:solidFill>
                  <a:schemeClr val="tx1"/>
                </a:solidFill>
              </a:rPr>
              <a:t>Can Unicorn fulfil the demand without relying on outsourcing and without hiring/firing anybody? Does this plan meet the criteria? </a:t>
            </a:r>
          </a:p>
          <a:p>
            <a:pPr marL="388620" indent="-342900">
              <a:buAutoNum type="arabicParenR"/>
            </a:pPr>
            <a:r>
              <a:rPr lang="en-US" sz="1800" dirty="0">
                <a:solidFill>
                  <a:schemeClr val="tx1"/>
                </a:solidFill>
              </a:rPr>
              <a:t>How does the plan look like if they hire 7 employees and are still not leveraging on outsourcing ? Does this plan meet all the criteria?</a:t>
            </a:r>
          </a:p>
          <a:p>
            <a:pPr marL="388620" indent="-342900">
              <a:buAutoNum type="arabicParenR"/>
            </a:pPr>
            <a:r>
              <a:rPr lang="en-US" sz="1800" dirty="0">
                <a:solidFill>
                  <a:schemeClr val="tx1"/>
                </a:solidFill>
              </a:rPr>
              <a:t> What happens to the cost if they cannot fire/hire/use overtime but can use outsourcing? Is this the way to go ?</a:t>
            </a:r>
          </a:p>
          <a:p>
            <a:pPr marL="388620" indent="-342900">
              <a:buAutoNum type="arabicParenR"/>
            </a:pPr>
            <a:r>
              <a:rPr lang="en-US" sz="1800" dirty="0">
                <a:solidFill>
                  <a:schemeClr val="tx1"/>
                </a:solidFill>
              </a:rPr>
              <a:t>Any other smart option we should investigate ?</a:t>
            </a:r>
          </a:p>
          <a:p>
            <a:pPr marL="388620" indent="-342900">
              <a:buAutoNum type="arabicParenR"/>
            </a:pPr>
            <a:r>
              <a:rPr lang="en-US" sz="1800" dirty="0">
                <a:solidFill>
                  <a:schemeClr val="tx1"/>
                </a:solidFill>
              </a:rPr>
              <a:t>Draw your summary and conclusions</a:t>
            </a:r>
          </a:p>
          <a:p>
            <a:pPr marL="388620" indent="-342900">
              <a:buAutoNum type="arabicParenR"/>
            </a:pPr>
            <a:endParaRPr lang="en-US" sz="1800" dirty="0">
              <a:solidFill>
                <a:schemeClr val="tx1"/>
              </a:solidFill>
            </a:endParaRPr>
          </a:p>
          <a:p>
            <a:pPr marL="45720" indent="0">
              <a:buNone/>
            </a:pPr>
            <a:endParaRPr lang="en-US" sz="1800" dirty="0">
              <a:solidFill>
                <a:schemeClr val="tx1"/>
              </a:solidFill>
            </a:endParaRPr>
          </a:p>
        </p:txBody>
      </p:sp>
      <p:graphicFrame>
        <p:nvGraphicFramePr>
          <p:cNvPr id="3" name="Object 2">
            <a:extLst>
              <a:ext uri="{FF2B5EF4-FFF2-40B4-BE49-F238E27FC236}">
                <a16:creationId xmlns:a16="http://schemas.microsoft.com/office/drawing/2014/main" id="{B76149CB-29C4-359D-C47B-AE5FAD17EC87}"/>
              </a:ext>
            </a:extLst>
          </p:cNvPr>
          <p:cNvGraphicFramePr>
            <a:graphicFrameLocks noChangeAspect="1"/>
          </p:cNvGraphicFramePr>
          <p:nvPr>
            <p:extLst>
              <p:ext uri="{D42A27DB-BD31-4B8C-83A1-F6EECF244321}">
                <p14:modId xmlns:p14="http://schemas.microsoft.com/office/powerpoint/2010/main" val="1548794270"/>
              </p:ext>
            </p:extLst>
          </p:nvPr>
        </p:nvGraphicFramePr>
        <p:xfrm>
          <a:off x="8017566" y="4791075"/>
          <a:ext cx="914400" cy="781050"/>
        </p:xfrm>
        <a:graphic>
          <a:graphicData uri="http://schemas.openxmlformats.org/presentationml/2006/ole">
            <mc:AlternateContent xmlns:mc="http://schemas.openxmlformats.org/markup-compatibility/2006">
              <mc:Choice xmlns:v="urn:schemas-microsoft-com:vml" Requires="v">
                <p:oleObj name="Worksheet" showAsIcon="1" r:id="rId2" imgW="914267" imgH="781070" progId="Excel.Sheet.12">
                  <p:embed/>
                </p:oleObj>
              </mc:Choice>
              <mc:Fallback>
                <p:oleObj name="Worksheet" showAsIcon="1" r:id="rId2" imgW="914267" imgH="781070" progId="Excel.Sheet.12">
                  <p:embed/>
                  <p:pic>
                    <p:nvPicPr>
                      <p:cNvPr id="3" name="Object 2">
                        <a:extLst>
                          <a:ext uri="{FF2B5EF4-FFF2-40B4-BE49-F238E27FC236}">
                            <a16:creationId xmlns:a16="http://schemas.microsoft.com/office/drawing/2014/main" id="{B76149CB-29C4-359D-C47B-AE5FAD17EC87}"/>
                          </a:ext>
                        </a:extLst>
                      </p:cNvPr>
                      <p:cNvPicPr/>
                      <p:nvPr/>
                    </p:nvPicPr>
                    <p:blipFill>
                      <a:blip r:embed="rId3"/>
                      <a:stretch>
                        <a:fillRect/>
                      </a:stretch>
                    </p:blipFill>
                    <p:spPr>
                      <a:xfrm>
                        <a:off x="8017566" y="4791075"/>
                        <a:ext cx="914400" cy="781050"/>
                      </a:xfrm>
                      <a:prstGeom prst="rect">
                        <a:avLst/>
                      </a:prstGeom>
                    </p:spPr>
                  </p:pic>
                </p:oleObj>
              </mc:Fallback>
            </mc:AlternateContent>
          </a:graphicData>
        </a:graphic>
      </p:graphicFrame>
    </p:spTree>
    <p:extLst>
      <p:ext uri="{BB962C8B-B14F-4D97-AF65-F5344CB8AC3E}">
        <p14:creationId xmlns:p14="http://schemas.microsoft.com/office/powerpoint/2010/main" val="4069347486"/>
      </p:ext>
    </p:extLst>
  </p:cSld>
  <p:clrMapOvr>
    <a:masterClrMapping/>
  </p:clrMapOvr>
</p:sld>
</file>

<file path=ppt/theme/theme1.xml><?xml version="1.0" encoding="utf-8"?>
<a:theme xmlns:a="http://schemas.openxmlformats.org/drawingml/2006/main" name="Roxan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344</Words>
  <Application>Microsoft Office PowerPoint</Application>
  <PresentationFormat>Widescreen</PresentationFormat>
  <Paragraphs>27</Paragraphs>
  <Slides>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1" baseType="lpstr">
      <vt:lpstr>Aptos</vt:lpstr>
      <vt:lpstr>Aptos Display</vt:lpstr>
      <vt:lpstr>Arial</vt:lpstr>
      <vt:lpstr>CMSS8</vt:lpstr>
      <vt:lpstr>SFSS1095</vt:lpstr>
      <vt:lpstr>Roxane</vt:lpstr>
      <vt:lpstr>Microsoft Excel Worksheet</vt:lpstr>
      <vt:lpstr>Unicorn Industry case study</vt:lpstr>
      <vt:lpstr>Unicorn Industry case study</vt:lpstr>
      <vt:lpstr>Unicorn Industry case study</vt:lpstr>
      <vt:lpstr>Unicorn Industry 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roxane desmicht</dc:creator>
  <cp:lastModifiedBy>roxane desmicht</cp:lastModifiedBy>
  <cp:revision>1</cp:revision>
  <dcterms:created xsi:type="dcterms:W3CDTF">2025-05-14T06:01:06Z</dcterms:created>
  <dcterms:modified xsi:type="dcterms:W3CDTF">2026-05-25T00:35:17Z</dcterms:modified>
</cp:coreProperties>
</file>